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43A4D-4916-4ACC-8D79-117C0E10B47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E59F-AACF-4C56-8727-8C3EE37AD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338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2E59F-AACF-4C56-8727-8C3EE37AD7D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878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2E59F-AACF-4C56-8727-8C3EE37AD7D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11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6502-0001-DB79-E5A3-62145B797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1BC55-0B14-9B16-81DA-4563FF5D7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77FAC-501A-DB1B-8452-6FC3DBEF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FCD9-4008-4DDB-8FE6-27DE14970374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DAA5F-0F94-D6B7-BED0-72FAE32F4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1311B-0CAB-B335-FD8E-DCCAADA0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47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483F-7B6F-17D3-66CE-0719DE5D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332B9-190B-BE7E-4669-51DBD08F7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00F2C-5FCA-7C5B-92CD-5D1A1B8E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891A3-1C6C-4340-B279-DA6433434F20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19FAA-785A-F2F5-A8BE-1EBC3412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693FB-501C-EDA6-ABB0-08723E74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8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1797-54C4-EF26-F367-854D3DBA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A67E1-D77F-B101-C3A4-DD3D6C8DA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74B54-CA62-0E9C-F2CF-F3FC7EC3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1BE7-8F79-4759-807B-41A7E200AF05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FB749-90A7-69B7-AB85-6F14519D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C70BF-BF7D-649A-5B04-EE21693CB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30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F1B6-0B85-73A0-B7C6-C7E0CBD4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8CDD-4B19-CE32-8FDA-AEA41B4AB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D517F-4673-D278-1A9D-BA6FE09D4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200AF-D849-BC0B-D7C1-F34884AED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C7A-EC99-48D9-AE1E-7DCB2198EC06}" type="datetime1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07545-FD2F-CB64-1D4C-31950B45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A6626-69A1-E736-0504-4B6D893A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082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B936-04F9-EAFB-3A1F-33609B1B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97683-D99A-58D0-3739-F3CDD5122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EC8D-92BB-1BA7-7D66-B9F262D8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D099B-4C63-FA94-5F46-6BEDF3235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1D0C3-BF94-83C3-F675-DB46C3A1E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9672AA-AA39-4DA4-8331-F6246925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F93-FF68-40B0-98D6-3564DD7B236A}" type="datetime1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B1990-85AB-C0B4-6728-9719A3E0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D2F30-10D6-DFF4-30FC-CD23C878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3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09F8-8A3B-71D4-E52E-CA0D1641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73232-9207-9425-E6BC-DBE5DC7A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0A43-A9D1-4DEF-A13C-C70DE54012CE}" type="datetime1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FB0C-D0D7-AD38-0764-554555FC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E1372-65DA-CBD7-177D-C8ECEA91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00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F89844-7471-1973-30EA-55FBAECC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4E01-B94A-4B35-87CB-64D55141DB10}" type="datetime1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E8CA4-F565-1DF1-629A-6F1642AD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AAC31-3D8B-E126-B7A9-46B0EE664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78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467C-F6FA-12F8-9FE6-7C40784E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430CD-F4DF-AA36-79B9-D703B0072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3475-34F8-65C2-D259-543CD2B89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863A6-10BB-D8FB-5CBD-B27164BE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799E-0AEF-47D2-AB6D-7FF50FA813B8}" type="datetime1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056E2-43DA-BBC9-975D-AB578ABB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2A62E-47CA-2847-3AB5-8B31B2FF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9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D81C-31F5-22DF-47FC-54675E77B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A1E58-C996-64F8-2951-092949955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4D653-10A0-9FC9-A351-3AA123936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65FAE-86C6-6715-CC7C-A39E5861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D8E1-7C96-4E2E-B227-B3A10349B18C}" type="datetime1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B4870-270E-A9E8-FDD7-D5F648A4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06BAD-A700-83F5-BB93-D7428CEC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06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35D5-B60B-A6FF-2852-A8A719EC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42238-B6D9-C3BE-8D18-EB45A26B8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76C83-7B99-95C6-7D27-83FBC525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1DD6F-774E-4761-AAFD-28341F1FA943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94DDF-8D65-C309-5210-FE34A6EAA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15AF-EAE2-7A29-85E5-05835AE3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41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3CCB8-2C70-241F-33E8-1E5C73CA8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DCED0-A18B-6DC0-53E9-2A2AE2A1E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D78F5-8F07-2FE9-E756-C57FE027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7890-2678-4E77-B84E-CB86FCFBFB30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F0BA7-71CC-CE72-6A8A-48EEF782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15135-8101-6F5B-3D7E-560606AD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86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E182C-BA35-7B12-2249-CEF8678D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27B91-75E3-CC90-3B85-B2C7A78BA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A2B4E-8A9B-D2A5-C26C-18DB36692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97E8C-9B48-48D3-9967-232843545065}" type="datetime1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9170-CE27-AE60-E90C-5615E5794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45DBB-0BE5-64E1-0510-1D49EA7A6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D4B66-F096-4230-AD09-E03834B28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21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liver%20mea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vector-images/motorcycle-vector-art.png.php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380346/aerial-view-business-data-analysis-graph" TargetMode="External"/><Relationship Id="rId2" Type="http://schemas.openxmlformats.org/officeDocument/2006/relationships/image" Target="../media/image3.1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pldatabase.org/real-time-etl-pipelines-with-database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380326/business-analysis-chart-digital-tablet" TargetMode="External"/><Relationship Id="rId2" Type="http://schemas.openxmlformats.org/officeDocument/2006/relationships/image" Target="../media/image5.1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ship%20illustration" TargetMode="External"/><Relationship Id="rId2" Type="http://schemas.openxmlformats.org/officeDocument/2006/relationships/image" Target="../media/image6.1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pt/planos-de-fundo-ppt-low-poly-cinza-2340383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planos-de-fundo-ppt-low-poly-cinza-2340383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EDA01E-006D-BB83-D4DB-B11067EF5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6683B0C9-CE23-4FB4-85D5-91C6BF78A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0929" y="6327059"/>
            <a:ext cx="9144000" cy="1655762"/>
          </a:xfrm>
        </p:spPr>
        <p:txBody>
          <a:bodyPr/>
          <a:lstStyle/>
          <a:p>
            <a:r>
              <a:rPr lang="en-IN" b="1" dirty="0"/>
              <a:t>SQL-Based Business Analytics Project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1EF7059-A28E-0004-EFE1-48CB98ED6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48" y="403122"/>
            <a:ext cx="11248103" cy="128802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8080"/>
                </a:highlight>
              </a:rPr>
              <a:t>Food Delivery Operations &amp; Performance Analysis Using SQL</a:t>
            </a:r>
            <a:endParaRPr lang="en-IN" b="1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2F3B2-0CA5-95BB-3BDD-D06F02E54ABE}"/>
              </a:ext>
            </a:extLst>
          </p:cNvPr>
          <p:cNvSpPr txBox="1"/>
          <p:nvPr/>
        </p:nvSpPr>
        <p:spPr>
          <a:xfrm>
            <a:off x="147484" y="5539684"/>
            <a:ext cx="1936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</a:t>
            </a:r>
          </a:p>
          <a:p>
            <a:r>
              <a:rPr lang="en-IN" b="1" dirty="0"/>
              <a:t>Vibha Tele</a:t>
            </a:r>
          </a:p>
          <a:p>
            <a:r>
              <a:rPr lang="en-IN" b="1" dirty="0"/>
              <a:t>Harshini Nawale </a:t>
            </a:r>
          </a:p>
          <a:p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23B6C-4BBF-6FBC-3204-15B7C2353926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endParaRPr lang="en-I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D81EEB-0F5A-2316-6A12-1F1A7A10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29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2E7ECA4-7153-3611-35A3-F94DA6D19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E15A60-4859-8CF3-933B-C6256115E319}"/>
              </a:ext>
            </a:extLst>
          </p:cNvPr>
          <p:cNvSpPr txBox="1"/>
          <p:nvPr/>
        </p:nvSpPr>
        <p:spPr>
          <a:xfrm>
            <a:off x="535858" y="1283078"/>
            <a:ext cx="111202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2060"/>
                </a:solidFill>
              </a:rPr>
              <a:t>A food delivery company operating across Metropolitan, Urban, and Semi-Urban cities was facing delivery delays, operational inefficiencies, and inconsistent delivery performance. The company wanted to identify the major factors affecting delivery efficiency and optimize operations using data analytics.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69D7C4-812A-B4D6-0DC1-C85B5A9619C0}"/>
              </a:ext>
            </a:extLst>
          </p:cNvPr>
          <p:cNvSpPr txBox="1"/>
          <p:nvPr/>
        </p:nvSpPr>
        <p:spPr>
          <a:xfrm>
            <a:off x="98322" y="273074"/>
            <a:ext cx="3274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Business scenario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A573A4-DE34-D81E-CC09-F68FF91A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8F4FE-9F79-0972-C903-27D820B3D569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38148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E270BA7-859E-7E2E-8668-67D02E30C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4" y="2110"/>
            <a:ext cx="12192001" cy="685800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8EF1CA-2251-B2A8-3CE1-C6D211D7FEA8}"/>
              </a:ext>
            </a:extLst>
          </p:cNvPr>
          <p:cNvSpPr txBox="1"/>
          <p:nvPr/>
        </p:nvSpPr>
        <p:spPr>
          <a:xfrm>
            <a:off x="3500283" y="146417"/>
            <a:ext cx="5633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accent5">
                    <a:lumMod val="50000"/>
                  </a:schemeClr>
                </a:solidFill>
              </a:rPr>
              <a:t>AIM AND OBJECTIVES OF PROJECT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1BA349-1739-CC95-8948-912876D3EF7B}"/>
              </a:ext>
            </a:extLst>
          </p:cNvPr>
          <p:cNvSpPr/>
          <p:nvPr/>
        </p:nvSpPr>
        <p:spPr>
          <a:xfrm>
            <a:off x="6705601" y="2642368"/>
            <a:ext cx="4100051" cy="31751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135692-D7F4-1504-17D9-79721F7E4CFB}"/>
              </a:ext>
            </a:extLst>
          </p:cNvPr>
          <p:cNvSpPr/>
          <p:nvPr/>
        </p:nvSpPr>
        <p:spPr>
          <a:xfrm>
            <a:off x="147480" y="1092586"/>
            <a:ext cx="11897035" cy="9648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E0C7B0-6956-A05D-B47F-A517A755D848}"/>
              </a:ext>
            </a:extLst>
          </p:cNvPr>
          <p:cNvSpPr txBox="1"/>
          <p:nvPr/>
        </p:nvSpPr>
        <p:spPr>
          <a:xfrm>
            <a:off x="147481" y="1163560"/>
            <a:ext cx="118970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highlight>
                  <a:srgbClr val="C0C0C0"/>
                </a:highlight>
              </a:rPr>
              <a:t>AIM :To analyze food delivery operations using SQL and identify operational factors affecting delivery efficiency, customer satisfaction, and delivery performance.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F0D966-B320-E1FE-8E76-03C99BAC8369}"/>
              </a:ext>
            </a:extLst>
          </p:cNvPr>
          <p:cNvSpPr/>
          <p:nvPr/>
        </p:nvSpPr>
        <p:spPr>
          <a:xfrm>
            <a:off x="604683" y="2708686"/>
            <a:ext cx="4242621" cy="31088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F9D058-AC49-21AA-0A32-DA495E490411}"/>
              </a:ext>
            </a:extLst>
          </p:cNvPr>
          <p:cNvSpPr txBox="1"/>
          <p:nvPr/>
        </p:nvSpPr>
        <p:spPr>
          <a:xfrm>
            <a:off x="934062" y="3293591"/>
            <a:ext cx="35838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00FFFF"/>
                </a:highlight>
              </a:rPr>
              <a:t>1. Analyze delivery delays </a:t>
            </a:r>
          </a:p>
          <a:p>
            <a:r>
              <a:rPr lang="en-US" sz="2400" b="1" dirty="0">
                <a:highlight>
                  <a:srgbClr val="00FFFF"/>
                </a:highlight>
              </a:rPr>
              <a:t>2.Evaluate driver performance </a:t>
            </a:r>
          </a:p>
          <a:p>
            <a:r>
              <a:rPr lang="en-US" sz="2400" b="1" dirty="0">
                <a:highlight>
                  <a:srgbClr val="00FFFF"/>
                </a:highlight>
              </a:rPr>
              <a:t>3.Study traffic impact </a:t>
            </a:r>
          </a:p>
          <a:p>
            <a:r>
              <a:rPr lang="en-US" sz="2400" b="1" dirty="0">
                <a:highlight>
                  <a:srgbClr val="00FFFF"/>
                </a:highlight>
              </a:rPr>
              <a:t>4.Analyze weather impact</a:t>
            </a:r>
            <a:endParaRPr lang="en-IN" sz="2400" b="1" dirty="0">
              <a:highlight>
                <a:srgbClr val="00FFFF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0049C7-9525-49B5-A04D-C714FCCEA9BC}"/>
              </a:ext>
            </a:extLst>
          </p:cNvPr>
          <p:cNvSpPr txBox="1"/>
          <p:nvPr/>
        </p:nvSpPr>
        <p:spPr>
          <a:xfrm>
            <a:off x="6813756" y="3106994"/>
            <a:ext cx="37362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00FFFF"/>
                </a:highlight>
              </a:rPr>
              <a:t>5.Analyze vehicle efficiency</a:t>
            </a:r>
          </a:p>
          <a:p>
            <a:r>
              <a:rPr lang="en-US" sz="2400" b="1" dirty="0">
                <a:highlight>
                  <a:srgbClr val="00FFFF"/>
                </a:highlight>
              </a:rPr>
              <a:t>6.Study customer ordering behavior</a:t>
            </a:r>
          </a:p>
          <a:p>
            <a:r>
              <a:rPr lang="en-US" sz="2400" b="1" dirty="0">
                <a:highlight>
                  <a:srgbClr val="00FFFF"/>
                </a:highlight>
              </a:rPr>
              <a:t>7.Identify operational risk</a:t>
            </a:r>
          </a:p>
          <a:p>
            <a:r>
              <a:rPr lang="en-US" sz="2400" b="1" dirty="0">
                <a:highlight>
                  <a:srgbClr val="00FFFF"/>
                </a:highlight>
              </a:rPr>
              <a:t> 8.suggest business improvements</a:t>
            </a:r>
            <a:endParaRPr lang="en-IN" sz="2400" b="1" dirty="0">
              <a:highlight>
                <a:srgbClr val="00FFFF"/>
              </a:highligh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CD38D-0D65-EF28-9967-E44C2504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3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4893F-FD00-427A-DACF-002FD6516E72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420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03E2FEB-04F8-0235-AB64-AE1E8288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3D9A32-A1BE-EAE4-9B66-2814F233F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F52FE0A-C9F4-C89A-29E5-C124F09C4653}"/>
              </a:ext>
            </a:extLst>
          </p:cNvPr>
          <p:cNvSpPr txBox="1"/>
          <p:nvPr/>
        </p:nvSpPr>
        <p:spPr>
          <a:xfrm>
            <a:off x="1145455" y="1585519"/>
            <a:ext cx="3362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Table 1- Delivery Person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5035E11-C4AD-2640-805F-42842D51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048775"/>
              </p:ext>
            </p:extLst>
          </p:nvPr>
        </p:nvGraphicFramePr>
        <p:xfrm>
          <a:off x="6560578" y="4649522"/>
          <a:ext cx="5486400" cy="21234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320412">
                  <a:extLst>
                    <a:ext uri="{9D8B030D-6E8A-4147-A177-3AD203B41FA5}">
                      <a16:colId xmlns:a16="http://schemas.microsoft.com/office/drawing/2014/main" val="2661905099"/>
                    </a:ext>
                  </a:extLst>
                </a:gridCol>
                <a:gridCol w="1632155">
                  <a:extLst>
                    <a:ext uri="{9D8B030D-6E8A-4147-A177-3AD203B41FA5}">
                      <a16:colId xmlns:a16="http://schemas.microsoft.com/office/drawing/2014/main" val="41523140"/>
                    </a:ext>
                  </a:extLst>
                </a:gridCol>
                <a:gridCol w="1533833">
                  <a:extLst>
                    <a:ext uri="{9D8B030D-6E8A-4147-A177-3AD203B41FA5}">
                      <a16:colId xmlns:a16="http://schemas.microsoft.com/office/drawing/2014/main" val="492746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005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Restaurant_id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11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Restaurant_lattitude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Decimal(8,5)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461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Restaurant_longitude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Decimal(8,5)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1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City_type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39542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B3259E3-593F-A711-FD6A-DAED138E8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911451"/>
              </p:ext>
            </p:extLst>
          </p:nvPr>
        </p:nvGraphicFramePr>
        <p:xfrm>
          <a:off x="49160" y="2213372"/>
          <a:ext cx="5869857" cy="338328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2582476">
                  <a:extLst>
                    <a:ext uri="{9D8B030D-6E8A-4147-A177-3AD203B41FA5}">
                      <a16:colId xmlns:a16="http://schemas.microsoft.com/office/drawing/2014/main" val="3503880720"/>
                    </a:ext>
                  </a:extLst>
                </a:gridCol>
                <a:gridCol w="1686318">
                  <a:extLst>
                    <a:ext uri="{9D8B030D-6E8A-4147-A177-3AD203B41FA5}">
                      <a16:colId xmlns:a16="http://schemas.microsoft.com/office/drawing/2014/main" val="3880938290"/>
                    </a:ext>
                  </a:extLst>
                </a:gridCol>
                <a:gridCol w="1601063">
                  <a:extLst>
                    <a:ext uri="{9D8B030D-6E8A-4147-A177-3AD203B41FA5}">
                      <a16:colId xmlns:a16="http://schemas.microsoft.com/office/drawing/2014/main" val="2590712035"/>
                    </a:ext>
                  </a:extLst>
                </a:gridCol>
              </a:tblGrid>
              <a:tr h="6298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Name 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Constraint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Data-type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03328"/>
                  </a:ext>
                </a:extLst>
              </a:tr>
              <a:tr h="35990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Delivery_person_ID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208714"/>
                  </a:ext>
                </a:extLst>
              </a:tr>
              <a:tr h="62983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Delivery_person_Age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Not Null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414590"/>
                  </a:ext>
                </a:extLst>
              </a:tr>
              <a:tr h="35990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Delivery_person_Ratings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CHECK (1–5)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Decimal(2,1)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27965"/>
                  </a:ext>
                </a:extLst>
              </a:tr>
              <a:tr h="35990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Vehicle_condition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CHECK (0–3)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TINYINT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316440"/>
                  </a:ext>
                </a:extLst>
              </a:tr>
              <a:tr h="62983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Type_of_vehicle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Not Null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Varchar(30)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297091"/>
                  </a:ext>
                </a:extLst>
              </a:tr>
              <a:tr h="35990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City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Not Null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Varchar(20)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772512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814A2FE-A8AA-FB6F-62CA-535837558F85}"/>
              </a:ext>
            </a:extLst>
          </p:cNvPr>
          <p:cNvSpPr txBox="1"/>
          <p:nvPr/>
        </p:nvSpPr>
        <p:spPr>
          <a:xfrm>
            <a:off x="8436080" y="4242078"/>
            <a:ext cx="218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808080"/>
                </a:highlight>
              </a:rPr>
              <a:t>Table 3- Restaurants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B71E0E-B602-D88D-D360-2E7C13C2D176}"/>
              </a:ext>
            </a:extLst>
          </p:cNvPr>
          <p:cNvSpPr txBox="1"/>
          <p:nvPr/>
        </p:nvSpPr>
        <p:spPr>
          <a:xfrm>
            <a:off x="127818" y="30828"/>
            <a:ext cx="3490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chemeClr val="bg1"/>
                </a:solidFill>
              </a:rPr>
              <a:t>Dataset Overview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BAD8786-122E-3412-3BFB-0AB56DF17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405158"/>
              </p:ext>
            </p:extLst>
          </p:nvPr>
        </p:nvGraphicFramePr>
        <p:xfrm>
          <a:off x="6235658" y="601611"/>
          <a:ext cx="5828524" cy="34463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869013">
                  <a:extLst>
                    <a:ext uri="{9D8B030D-6E8A-4147-A177-3AD203B41FA5}">
                      <a16:colId xmlns:a16="http://schemas.microsoft.com/office/drawing/2014/main" val="3503880720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3880938290"/>
                    </a:ext>
                  </a:extLst>
                </a:gridCol>
                <a:gridCol w="1396182">
                  <a:extLst>
                    <a:ext uri="{9D8B030D-6E8A-4147-A177-3AD203B41FA5}">
                      <a16:colId xmlns:a16="http://schemas.microsoft.com/office/drawing/2014/main" val="2590712035"/>
                    </a:ext>
                  </a:extLst>
                </a:gridCol>
              </a:tblGrid>
              <a:tr h="594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Name 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Constraint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Data-type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03328"/>
                  </a:ext>
                </a:extLst>
              </a:tr>
              <a:tr h="33979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Location_ID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208714"/>
                  </a:ext>
                </a:extLst>
              </a:tr>
              <a:tr h="58512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Order_ID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Not Null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414590"/>
                  </a:ext>
                </a:extLst>
              </a:tr>
              <a:tr h="33979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Delivery_location_latitude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CHECK (1–5)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Decimal(2,1)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27965"/>
                  </a:ext>
                </a:extLst>
              </a:tr>
              <a:tr h="84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Delivery_location_longitude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CHECK (0–3)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TINYINT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316440"/>
                  </a:ext>
                </a:extLst>
              </a:tr>
              <a:tr h="5946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city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Not Null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Varchar(30)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297091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54F3FBE-88C3-3C61-D376-DD10527E2B9E}"/>
              </a:ext>
            </a:extLst>
          </p:cNvPr>
          <p:cNvSpPr txBox="1"/>
          <p:nvPr/>
        </p:nvSpPr>
        <p:spPr>
          <a:xfrm>
            <a:off x="7516759" y="138549"/>
            <a:ext cx="2664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808080"/>
                </a:highlight>
              </a:rPr>
              <a:t>Table 2- Delivery Location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7A91B8-4FF4-DAA6-2E27-037C31E9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DD0A3-F6DF-A219-D85F-278EF1CAA6C9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31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FDD073-A1A2-A00A-017D-BE203C66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94649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81AEE0-CB6F-F56B-2A8A-7AF06CC42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092321"/>
              </p:ext>
            </p:extLst>
          </p:nvPr>
        </p:nvGraphicFramePr>
        <p:xfrm>
          <a:off x="3175822" y="415412"/>
          <a:ext cx="6902241" cy="636245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553940">
                  <a:extLst>
                    <a:ext uri="{9D8B030D-6E8A-4147-A177-3AD203B41FA5}">
                      <a16:colId xmlns:a16="http://schemas.microsoft.com/office/drawing/2014/main" val="3441830441"/>
                    </a:ext>
                  </a:extLst>
                </a:gridCol>
                <a:gridCol w="1662262">
                  <a:extLst>
                    <a:ext uri="{9D8B030D-6E8A-4147-A177-3AD203B41FA5}">
                      <a16:colId xmlns:a16="http://schemas.microsoft.com/office/drawing/2014/main" val="439875208"/>
                    </a:ext>
                  </a:extLst>
                </a:gridCol>
                <a:gridCol w="2686039">
                  <a:extLst>
                    <a:ext uri="{9D8B030D-6E8A-4147-A177-3AD203B41FA5}">
                      <a16:colId xmlns:a16="http://schemas.microsoft.com/office/drawing/2014/main" val="2101030135"/>
                    </a:ext>
                  </a:extLst>
                </a:gridCol>
              </a:tblGrid>
              <a:tr h="3636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Column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Data-type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580416"/>
                  </a:ext>
                </a:extLst>
              </a:tr>
              <a:tr h="3636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Varchar(10)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Primary_key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189065"/>
                  </a:ext>
                </a:extLst>
              </a:tr>
              <a:tr h="63639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Delivery_person_id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Varchar(10)</a:t>
                      </a:r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Fk_delivery_person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666307"/>
                  </a:ext>
                </a:extLst>
              </a:tr>
              <a:tr h="3636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Restaurant_id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Fk_restaurants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922465"/>
                  </a:ext>
                </a:extLst>
              </a:tr>
              <a:tr h="36217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Order_Date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69856"/>
                  </a:ext>
                </a:extLst>
              </a:tr>
              <a:tr h="3636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Time_ordered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106686"/>
                  </a:ext>
                </a:extLst>
              </a:tr>
              <a:tr h="6363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Time_ordere_picked</a:t>
                      </a:r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Time</a:t>
                      </a:r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153254"/>
                  </a:ext>
                </a:extLst>
              </a:tr>
              <a:tr h="63639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Type_of_order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Varchar(20)</a:t>
                      </a:r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12259"/>
                  </a:ext>
                </a:extLst>
              </a:tr>
              <a:tr h="3636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Multiple_deliveries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TINYINT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204227"/>
                  </a:ext>
                </a:extLst>
              </a:tr>
              <a:tr h="63639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Festival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Varchar(10)</a:t>
                      </a:r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950931"/>
                  </a:ext>
                </a:extLst>
              </a:tr>
              <a:tr h="63639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Weather_conditions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Varchar(20)</a:t>
                      </a:r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91066"/>
                  </a:ext>
                </a:extLst>
              </a:tr>
              <a:tr h="63639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Road_traffic_density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Varchar(20)</a:t>
                      </a:r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384631"/>
                  </a:ext>
                </a:extLst>
              </a:tr>
              <a:tr h="3636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Delivery_time</a:t>
                      </a:r>
                      <a:r>
                        <a:rPr lang="en-IN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2377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5C1CA3-E238-8C0F-A1BA-7B8877C7625B}"/>
              </a:ext>
            </a:extLst>
          </p:cNvPr>
          <p:cNvSpPr txBox="1"/>
          <p:nvPr/>
        </p:nvSpPr>
        <p:spPr>
          <a:xfrm>
            <a:off x="4911213" y="15302"/>
            <a:ext cx="1991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highlight>
                  <a:srgbClr val="C0C0C0"/>
                </a:highlight>
              </a:rPr>
              <a:t>Table 4 - Orders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A76895-78CC-1AE1-52E4-2A2F310E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6BA02-AC0E-A66E-75CF-0519E923DBBD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312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443459-39DE-08A1-7390-33B2E5A6C1A7}"/>
              </a:ext>
            </a:extLst>
          </p:cNvPr>
          <p:cNvSpPr/>
          <p:nvPr/>
        </p:nvSpPr>
        <p:spPr>
          <a:xfrm>
            <a:off x="91396" y="988339"/>
            <a:ext cx="3950110" cy="1298652"/>
          </a:xfrm>
          <a:prstGeom prst="roundRect">
            <a:avLst>
              <a:gd name="adj" fmla="val 36352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12F73-ECE1-5B05-EEB8-7CC67E3F1FAB}"/>
              </a:ext>
            </a:extLst>
          </p:cNvPr>
          <p:cNvSpPr txBox="1"/>
          <p:nvPr/>
        </p:nvSpPr>
        <p:spPr>
          <a:xfrm>
            <a:off x="163460" y="1034024"/>
            <a:ext cx="388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A)   Basic KPIs Analysis </a:t>
            </a:r>
          </a:p>
          <a:p>
            <a:r>
              <a:rPr lang="en-IN" dirty="0"/>
              <a:t>    1.Total Orders analysis </a:t>
            </a:r>
          </a:p>
          <a:p>
            <a:r>
              <a:rPr lang="en-IN" dirty="0"/>
              <a:t>    2.Average Delivery Time</a:t>
            </a:r>
          </a:p>
          <a:p>
            <a:r>
              <a:rPr lang="en-IN" dirty="0"/>
              <a:t>    3.Average Delivery Person Rating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5E326B-D5F2-5FF9-D16E-180E2DB18869}"/>
              </a:ext>
            </a:extLst>
          </p:cNvPr>
          <p:cNvSpPr/>
          <p:nvPr/>
        </p:nvSpPr>
        <p:spPr>
          <a:xfrm>
            <a:off x="89103" y="2527436"/>
            <a:ext cx="3886200" cy="913607"/>
          </a:xfrm>
          <a:prstGeom prst="roundRect">
            <a:avLst>
              <a:gd name="adj" fmla="val 4034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28DD6-037D-EFD3-78D4-1A2F87E955CF}"/>
              </a:ext>
            </a:extLst>
          </p:cNvPr>
          <p:cNvSpPr txBox="1"/>
          <p:nvPr/>
        </p:nvSpPr>
        <p:spPr>
          <a:xfrm>
            <a:off x="163460" y="2586330"/>
            <a:ext cx="3667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B)  Traffic Analysis</a:t>
            </a:r>
          </a:p>
          <a:p>
            <a:r>
              <a:rPr lang="en-IN" dirty="0"/>
              <a:t>    Traffic Density Vs Delivery Time </a:t>
            </a:r>
          </a:p>
          <a:p>
            <a:r>
              <a:rPr lang="en-IN" dirty="0"/>
              <a:t>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D0F13-C587-1E2E-08ED-CFD1AAFC4BE5}"/>
              </a:ext>
            </a:extLst>
          </p:cNvPr>
          <p:cNvSpPr txBox="1"/>
          <p:nvPr/>
        </p:nvSpPr>
        <p:spPr>
          <a:xfrm>
            <a:off x="163459" y="3618425"/>
            <a:ext cx="3667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C)Weather Analysis </a:t>
            </a:r>
          </a:p>
          <a:p>
            <a:r>
              <a:rPr lang="en-IN" dirty="0"/>
              <a:t>    Weather condition Vs Delivery Time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61BF67-7E28-CF2F-BEE2-F42398A812EB}"/>
              </a:ext>
            </a:extLst>
          </p:cNvPr>
          <p:cNvSpPr/>
          <p:nvPr/>
        </p:nvSpPr>
        <p:spPr>
          <a:xfrm>
            <a:off x="77877" y="3571444"/>
            <a:ext cx="3886200" cy="913607"/>
          </a:xfrm>
          <a:prstGeom prst="roundRect">
            <a:avLst>
              <a:gd name="adj" fmla="val 4357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80F373-7BDF-D326-D24F-D5EC555F2B82}"/>
              </a:ext>
            </a:extLst>
          </p:cNvPr>
          <p:cNvSpPr/>
          <p:nvPr/>
        </p:nvSpPr>
        <p:spPr>
          <a:xfrm>
            <a:off x="89103" y="4715137"/>
            <a:ext cx="3886200" cy="913607"/>
          </a:xfrm>
          <a:prstGeom prst="roundRect">
            <a:avLst>
              <a:gd name="adj" fmla="val 42496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A84055-D551-C3BE-D877-63E119162012}"/>
              </a:ext>
            </a:extLst>
          </p:cNvPr>
          <p:cNvSpPr txBox="1"/>
          <p:nvPr/>
        </p:nvSpPr>
        <p:spPr>
          <a:xfrm>
            <a:off x="111841" y="4838668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D) Multiple Delivery Analysis </a:t>
            </a:r>
          </a:p>
          <a:p>
            <a:r>
              <a:rPr lang="en-IN" dirty="0"/>
              <a:t>    Weather condition Vs Delivery Time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6A230E-4028-A7F5-8AE1-8EF60DB51994}"/>
              </a:ext>
            </a:extLst>
          </p:cNvPr>
          <p:cNvSpPr/>
          <p:nvPr/>
        </p:nvSpPr>
        <p:spPr>
          <a:xfrm>
            <a:off x="111841" y="5774504"/>
            <a:ext cx="3886200" cy="913607"/>
          </a:xfrm>
          <a:prstGeom prst="roundRect">
            <a:avLst>
              <a:gd name="adj" fmla="val 4034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2D5C61-F433-0046-9CC5-2DD3DAAC2C1D}"/>
              </a:ext>
            </a:extLst>
          </p:cNvPr>
          <p:cNvSpPr txBox="1"/>
          <p:nvPr/>
        </p:nvSpPr>
        <p:spPr>
          <a:xfrm>
            <a:off x="221224" y="5792768"/>
            <a:ext cx="3776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E)City Performance Analysis </a:t>
            </a:r>
          </a:p>
          <a:p>
            <a:r>
              <a:rPr lang="en-IN" dirty="0"/>
              <a:t>   Delivery Time Across Different City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C1B0D61-3871-CBD2-F3A2-28B1AFF72CE6}"/>
              </a:ext>
            </a:extLst>
          </p:cNvPr>
          <p:cNvSpPr/>
          <p:nvPr/>
        </p:nvSpPr>
        <p:spPr>
          <a:xfrm>
            <a:off x="7844302" y="997466"/>
            <a:ext cx="4102510" cy="1200329"/>
          </a:xfrm>
          <a:prstGeom prst="roundRect">
            <a:avLst>
              <a:gd name="adj" fmla="val 3468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A5CF58-AC4B-8559-DD24-8DBF7B60223E}"/>
              </a:ext>
            </a:extLst>
          </p:cNvPr>
          <p:cNvSpPr/>
          <p:nvPr/>
        </p:nvSpPr>
        <p:spPr>
          <a:xfrm>
            <a:off x="7943232" y="2383146"/>
            <a:ext cx="4125247" cy="1467671"/>
          </a:xfrm>
          <a:prstGeom prst="roundRect">
            <a:avLst>
              <a:gd name="adj" fmla="val 3140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2A62C-D444-1F39-851A-AAD87CFFFD44}"/>
              </a:ext>
            </a:extLst>
          </p:cNvPr>
          <p:cNvSpPr txBox="1"/>
          <p:nvPr/>
        </p:nvSpPr>
        <p:spPr>
          <a:xfrm>
            <a:off x="8134353" y="1107597"/>
            <a:ext cx="3738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F) Driver Performance Analysis </a:t>
            </a:r>
          </a:p>
          <a:p>
            <a:pPr marL="342900" indent="-342900">
              <a:buAutoNum type="arabicPeriod"/>
            </a:pPr>
            <a:r>
              <a:rPr lang="en-IN" dirty="0"/>
              <a:t>Top Performing Delivery Agent </a:t>
            </a:r>
          </a:p>
          <a:p>
            <a:pPr marL="342900" indent="-342900">
              <a:buAutoNum type="arabicPeriod"/>
            </a:pPr>
            <a:r>
              <a:rPr lang="en-IN" dirty="0"/>
              <a:t>Driver Ranking Analysis 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AD328F-440C-D2F6-7310-05DB1545A2CA}"/>
              </a:ext>
            </a:extLst>
          </p:cNvPr>
          <p:cNvSpPr txBox="1"/>
          <p:nvPr/>
        </p:nvSpPr>
        <p:spPr>
          <a:xfrm>
            <a:off x="8060611" y="2372939"/>
            <a:ext cx="3886201" cy="1467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G) &amp; H) Windows Function &amp; Subquery Analysis</a:t>
            </a:r>
          </a:p>
          <a:p>
            <a:pPr marL="285750" indent="-285750">
              <a:buFontTx/>
              <a:buChar char="-"/>
            </a:pPr>
            <a:r>
              <a:rPr lang="en-IN" dirty="0"/>
              <a:t>Driver Ranking Using Rank </a:t>
            </a:r>
          </a:p>
          <a:p>
            <a:pPr marL="285750" indent="-285750">
              <a:buFontTx/>
              <a:buChar char="-"/>
            </a:pPr>
            <a:r>
              <a:rPr lang="en-IN" dirty="0"/>
              <a:t>Driver Performance better than overall Average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C677AE-B749-7E1F-02D0-4B3192A3FD46}"/>
              </a:ext>
            </a:extLst>
          </p:cNvPr>
          <p:cNvSpPr/>
          <p:nvPr/>
        </p:nvSpPr>
        <p:spPr>
          <a:xfrm>
            <a:off x="7943232" y="4097628"/>
            <a:ext cx="4102510" cy="1200329"/>
          </a:xfrm>
          <a:prstGeom prst="roundRect">
            <a:avLst>
              <a:gd name="adj" fmla="val 3386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63C675A-5294-9B4A-04EE-9A370334DA0F}"/>
              </a:ext>
            </a:extLst>
          </p:cNvPr>
          <p:cNvSpPr/>
          <p:nvPr/>
        </p:nvSpPr>
        <p:spPr>
          <a:xfrm>
            <a:off x="8027115" y="5440599"/>
            <a:ext cx="4102510" cy="1200329"/>
          </a:xfrm>
          <a:prstGeom prst="roundRect">
            <a:avLst>
              <a:gd name="adj" fmla="val 3714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F0FF45-634E-92A8-CD14-B549498B647A}"/>
              </a:ext>
            </a:extLst>
          </p:cNvPr>
          <p:cNvSpPr txBox="1"/>
          <p:nvPr/>
        </p:nvSpPr>
        <p:spPr>
          <a:xfrm>
            <a:off x="8060611" y="4114972"/>
            <a:ext cx="4102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I)Vehicle Performance Analysis </a:t>
            </a:r>
          </a:p>
          <a:p>
            <a:r>
              <a:rPr lang="en-IN" dirty="0"/>
              <a:t>1.Fastest Vehicle Type </a:t>
            </a:r>
          </a:p>
          <a:p>
            <a:r>
              <a:rPr lang="en-IN" dirty="0"/>
              <a:t>2.Vehicle Condition Impact</a:t>
            </a:r>
          </a:p>
          <a:p>
            <a:r>
              <a:rPr lang="en-IN" dirty="0"/>
              <a:t>3.Vehicle Ranking Analysis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08E2C2-3B79-F48D-1501-25A075596B9C}"/>
              </a:ext>
            </a:extLst>
          </p:cNvPr>
          <p:cNvSpPr txBox="1"/>
          <p:nvPr/>
        </p:nvSpPr>
        <p:spPr>
          <a:xfrm>
            <a:off x="8099628" y="5587359"/>
            <a:ext cx="4029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J)Order Type Analysis </a:t>
            </a:r>
          </a:p>
          <a:p>
            <a:r>
              <a:rPr lang="en-IN" dirty="0"/>
              <a:t>1.Delivery Time by Order Type </a:t>
            </a:r>
          </a:p>
          <a:p>
            <a:r>
              <a:rPr lang="en-IN" dirty="0"/>
              <a:t>2.Most Frequently Ordered Category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B7C5BA2-197F-1833-1129-9416311121F5}"/>
              </a:ext>
            </a:extLst>
          </p:cNvPr>
          <p:cNvSpPr/>
          <p:nvPr/>
        </p:nvSpPr>
        <p:spPr>
          <a:xfrm>
            <a:off x="4384709" y="1780789"/>
            <a:ext cx="3237133" cy="805542"/>
          </a:xfrm>
          <a:prstGeom prst="roundRect">
            <a:avLst>
              <a:gd name="adj" fmla="val 3741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B4E971-55F6-C938-28E4-7E0501087B4A}"/>
              </a:ext>
            </a:extLst>
          </p:cNvPr>
          <p:cNvSpPr txBox="1"/>
          <p:nvPr/>
        </p:nvSpPr>
        <p:spPr>
          <a:xfrm>
            <a:off x="4512812" y="1903260"/>
            <a:ext cx="3086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K)Time- Based Analysis </a:t>
            </a:r>
          </a:p>
          <a:p>
            <a:r>
              <a:rPr lang="en-IN" dirty="0"/>
              <a:t>-Peak Delivery Delay Timings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7F4642B-E75C-6BCF-C7A3-34B3CF8A48DD}"/>
              </a:ext>
            </a:extLst>
          </p:cNvPr>
          <p:cNvSpPr/>
          <p:nvPr/>
        </p:nvSpPr>
        <p:spPr>
          <a:xfrm>
            <a:off x="4218188" y="3044519"/>
            <a:ext cx="3474476" cy="1432928"/>
          </a:xfrm>
          <a:prstGeom prst="roundRect">
            <a:avLst>
              <a:gd name="adj" fmla="val 3176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EF619B-CB3C-A9CD-97BB-690F0CBD5BEA}"/>
              </a:ext>
            </a:extLst>
          </p:cNvPr>
          <p:cNvSpPr txBox="1"/>
          <p:nvPr/>
        </p:nvSpPr>
        <p:spPr>
          <a:xfrm>
            <a:off x="4455531" y="3022319"/>
            <a:ext cx="32371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L)Delay risk Analysis </a:t>
            </a:r>
          </a:p>
          <a:p>
            <a:r>
              <a:rPr lang="en-IN" dirty="0"/>
              <a:t>1.Weather + Traffic Combination Impact</a:t>
            </a:r>
          </a:p>
          <a:p>
            <a:r>
              <a:rPr lang="en-IN" dirty="0"/>
              <a:t>2.Multiple Deliveries During Jam Traffic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526828E-25FC-5125-69B1-20FF79009503}"/>
              </a:ext>
            </a:extLst>
          </p:cNvPr>
          <p:cNvSpPr/>
          <p:nvPr/>
        </p:nvSpPr>
        <p:spPr>
          <a:xfrm>
            <a:off x="4275340" y="4798379"/>
            <a:ext cx="3474476" cy="1432928"/>
          </a:xfrm>
          <a:prstGeom prst="roundRect">
            <a:avLst>
              <a:gd name="adj" fmla="val 2284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19A3FE-3514-4EEE-16D9-380D60BB0A65}"/>
              </a:ext>
            </a:extLst>
          </p:cNvPr>
          <p:cNvSpPr txBox="1"/>
          <p:nvPr/>
        </p:nvSpPr>
        <p:spPr>
          <a:xfrm>
            <a:off x="4330107" y="4820579"/>
            <a:ext cx="3474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M) Location&amp; Delivery &amp;Coverage Analysis </a:t>
            </a:r>
          </a:p>
          <a:p>
            <a:r>
              <a:rPr lang="en-IN" dirty="0"/>
              <a:t>Restaurant Distribution by city type </a:t>
            </a:r>
          </a:p>
          <a:p>
            <a:r>
              <a:rPr lang="en-IN" dirty="0"/>
              <a:t>2.Delivery Location Distribution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E81D3ED-E08E-17CA-CD4E-1574D782BF0F}"/>
              </a:ext>
            </a:extLst>
          </p:cNvPr>
          <p:cNvSpPr/>
          <p:nvPr/>
        </p:nvSpPr>
        <p:spPr>
          <a:xfrm>
            <a:off x="0" y="22699"/>
            <a:ext cx="12192000" cy="771570"/>
          </a:xfrm>
          <a:prstGeom prst="roundRect">
            <a:avLst>
              <a:gd name="adj" fmla="val 5389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F21047-D1CD-8C9A-62FF-FD57DB062FB0}"/>
              </a:ext>
            </a:extLst>
          </p:cNvPr>
          <p:cNvSpPr txBox="1"/>
          <p:nvPr/>
        </p:nvSpPr>
        <p:spPr>
          <a:xfrm>
            <a:off x="2104103" y="95102"/>
            <a:ext cx="868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Food Delivery Performance Analysis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FAFB0F-9E47-FB46-F905-775AE31C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95A07-83B2-04F4-0903-5BC0C26E2236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6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5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B17283D4-176D-E7B0-09E2-C77D858F6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23360" y="-35520"/>
            <a:ext cx="12192000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DA0D51-4027-89C0-DFF9-B144370A85B0}"/>
              </a:ext>
            </a:extLst>
          </p:cNvPr>
          <p:cNvSpPr/>
          <p:nvPr/>
        </p:nvSpPr>
        <p:spPr>
          <a:xfrm>
            <a:off x="710380" y="895500"/>
            <a:ext cx="2371995" cy="954106"/>
          </a:xfrm>
          <a:prstGeom prst="roundRect">
            <a:avLst>
              <a:gd name="adj" fmla="val 1771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89961-574A-009B-041A-E9A065F24AD4}"/>
              </a:ext>
            </a:extLst>
          </p:cNvPr>
          <p:cNvSpPr txBox="1"/>
          <p:nvPr/>
        </p:nvSpPr>
        <p:spPr>
          <a:xfrm>
            <a:off x="936503" y="1110943"/>
            <a:ext cx="2043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Total Orders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161C81-E474-6B25-1337-B6DD1E37B1B9}"/>
              </a:ext>
            </a:extLst>
          </p:cNvPr>
          <p:cNvSpPr/>
          <p:nvPr/>
        </p:nvSpPr>
        <p:spPr>
          <a:xfrm>
            <a:off x="4026290" y="865528"/>
            <a:ext cx="3357720" cy="95410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4453C-A4AB-0A0B-8E34-62ECABD13116}"/>
              </a:ext>
            </a:extLst>
          </p:cNvPr>
          <p:cNvSpPr txBox="1"/>
          <p:nvPr/>
        </p:nvSpPr>
        <p:spPr>
          <a:xfrm>
            <a:off x="4044749" y="902006"/>
            <a:ext cx="3318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Average delivery Time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0754E8-DFE0-808C-8207-7097248AD623}"/>
              </a:ext>
            </a:extLst>
          </p:cNvPr>
          <p:cNvSpPr/>
          <p:nvPr/>
        </p:nvSpPr>
        <p:spPr>
          <a:xfrm>
            <a:off x="8032955" y="852742"/>
            <a:ext cx="3968537" cy="96689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36DC2A-5D52-7714-8B44-D193A6EFD826}"/>
              </a:ext>
            </a:extLst>
          </p:cNvPr>
          <p:cNvSpPr txBox="1"/>
          <p:nvPr/>
        </p:nvSpPr>
        <p:spPr>
          <a:xfrm>
            <a:off x="8091951" y="876925"/>
            <a:ext cx="37804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Average Delivery Person Rating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14EE2B-8253-86D9-EB3F-CC620F40004E}"/>
              </a:ext>
            </a:extLst>
          </p:cNvPr>
          <p:cNvSpPr/>
          <p:nvPr/>
        </p:nvSpPr>
        <p:spPr>
          <a:xfrm>
            <a:off x="442749" y="2771066"/>
            <a:ext cx="2841522" cy="140795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DB9AF3-9CE5-F51C-BAC2-CE0998966841}"/>
              </a:ext>
            </a:extLst>
          </p:cNvPr>
          <p:cNvSpPr txBox="1"/>
          <p:nvPr/>
        </p:nvSpPr>
        <p:spPr>
          <a:xfrm>
            <a:off x="710380" y="3013379"/>
            <a:ext cx="22337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SELECT COUNT(*) AS TOTAL_ORDERS </a:t>
            </a:r>
          </a:p>
          <a:p>
            <a:r>
              <a:rPr lang="en-IN" b="1" dirty="0"/>
              <a:t>FROM ORDERS;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64E2F0-46D6-AA1A-5DD8-606AEA51D2CD}"/>
              </a:ext>
            </a:extLst>
          </p:cNvPr>
          <p:cNvSpPr/>
          <p:nvPr/>
        </p:nvSpPr>
        <p:spPr>
          <a:xfrm>
            <a:off x="4248766" y="3034720"/>
            <a:ext cx="3539611" cy="12971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8BCC5D-6B42-BCA0-BD92-E0B4F60BDB84}"/>
              </a:ext>
            </a:extLst>
          </p:cNvPr>
          <p:cNvSpPr txBox="1"/>
          <p:nvPr/>
        </p:nvSpPr>
        <p:spPr>
          <a:xfrm>
            <a:off x="4544348" y="3255453"/>
            <a:ext cx="2948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SELECT AVG(DELIVERY_TIME) AS AVG_DELIVERY_TIME</a:t>
            </a:r>
          </a:p>
          <a:p>
            <a:r>
              <a:rPr lang="en-IN" b="1" dirty="0"/>
              <a:t>FROM ORDERS;</a:t>
            </a:r>
          </a:p>
          <a:p>
            <a:r>
              <a:rPr lang="en-IN" b="1" dirty="0"/>
              <a:t> 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88C479-0649-60E4-F8F2-A6DF4ADEDBB2}"/>
              </a:ext>
            </a:extLst>
          </p:cNvPr>
          <p:cNvSpPr/>
          <p:nvPr/>
        </p:nvSpPr>
        <p:spPr>
          <a:xfrm>
            <a:off x="8648692" y="2745726"/>
            <a:ext cx="3352800" cy="14586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54A546-27F2-D029-1B57-7E5C0D18A925}"/>
              </a:ext>
            </a:extLst>
          </p:cNvPr>
          <p:cNvSpPr txBox="1"/>
          <p:nvPr/>
        </p:nvSpPr>
        <p:spPr>
          <a:xfrm>
            <a:off x="8791260" y="2895442"/>
            <a:ext cx="3067664" cy="1242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SELECT AVG(DELIVERY_PERSON_RATINGS) AS AVG_RATING</a:t>
            </a:r>
          </a:p>
          <a:p>
            <a:r>
              <a:rPr lang="en-IN" b="1" dirty="0"/>
              <a:t>FROM DELIVERY_PERSON;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E1D526E-465E-64C0-C840-E1992460F632}"/>
              </a:ext>
            </a:extLst>
          </p:cNvPr>
          <p:cNvSpPr/>
          <p:nvPr/>
        </p:nvSpPr>
        <p:spPr>
          <a:xfrm>
            <a:off x="5506065" y="5636099"/>
            <a:ext cx="1459784" cy="100294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677746-74C0-1265-55B4-E58B3AEB6095}"/>
              </a:ext>
            </a:extLst>
          </p:cNvPr>
          <p:cNvSpPr/>
          <p:nvPr/>
        </p:nvSpPr>
        <p:spPr>
          <a:xfrm>
            <a:off x="9704439" y="4487872"/>
            <a:ext cx="1297858" cy="96356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9714E16-6095-9453-42E7-A49C721F1093}"/>
              </a:ext>
            </a:extLst>
          </p:cNvPr>
          <p:cNvSpPr/>
          <p:nvPr/>
        </p:nvSpPr>
        <p:spPr>
          <a:xfrm>
            <a:off x="776748" y="4480651"/>
            <a:ext cx="1376515" cy="96356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E19C7A-8ACB-9438-167C-28C92DA339CC}"/>
              </a:ext>
            </a:extLst>
          </p:cNvPr>
          <p:cNvSpPr txBox="1"/>
          <p:nvPr/>
        </p:nvSpPr>
        <p:spPr>
          <a:xfrm>
            <a:off x="1240092" y="4796081"/>
            <a:ext cx="449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50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D10A29-A588-49DC-2FDD-203D2C9476FD}"/>
              </a:ext>
            </a:extLst>
          </p:cNvPr>
          <p:cNvSpPr txBox="1"/>
          <p:nvPr/>
        </p:nvSpPr>
        <p:spPr>
          <a:xfrm>
            <a:off x="5624359" y="5788352"/>
            <a:ext cx="122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34.1200    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43097B-E7CD-CC27-2297-B83EC72F4BE5}"/>
              </a:ext>
            </a:extLst>
          </p:cNvPr>
          <p:cNvSpPr txBox="1"/>
          <p:nvPr/>
        </p:nvSpPr>
        <p:spPr>
          <a:xfrm>
            <a:off x="9905385" y="4752553"/>
            <a:ext cx="1046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4.5840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023C58F-E4E5-72AF-E59C-F8D3021E395F}"/>
              </a:ext>
            </a:extLst>
          </p:cNvPr>
          <p:cNvSpPr/>
          <p:nvPr/>
        </p:nvSpPr>
        <p:spPr>
          <a:xfrm>
            <a:off x="0" y="-31608"/>
            <a:ext cx="12192000" cy="65895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486F8E-5CDA-1CE1-C408-02DE6E8F66F1}"/>
              </a:ext>
            </a:extLst>
          </p:cNvPr>
          <p:cNvSpPr txBox="1"/>
          <p:nvPr/>
        </p:nvSpPr>
        <p:spPr>
          <a:xfrm>
            <a:off x="4635907" y="-35520"/>
            <a:ext cx="3280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BASIC KPIs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F690A8-9319-2221-7B01-FA0DF24C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53AC2-3EC9-B5A3-E4CB-212EE5043BB9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8971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FDA01D-8F0D-1497-9220-696FE61E5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831C5A-AF96-8D4D-3EC7-9AC0EF06F728}"/>
              </a:ext>
            </a:extLst>
          </p:cNvPr>
          <p:cNvSpPr txBox="1"/>
          <p:nvPr/>
        </p:nvSpPr>
        <p:spPr>
          <a:xfrm>
            <a:off x="1442880" y="85122"/>
            <a:ext cx="2458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B) TRAFFIC ANALYSIS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FAD90-A767-00D6-0B2F-CEE95F86D934}"/>
              </a:ext>
            </a:extLst>
          </p:cNvPr>
          <p:cNvSpPr txBox="1"/>
          <p:nvPr/>
        </p:nvSpPr>
        <p:spPr>
          <a:xfrm>
            <a:off x="7934631" y="146067"/>
            <a:ext cx="3057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C) WEATHER ANALYSIS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405138-F8D5-FF36-1AA5-F99F4F2ED56B}"/>
              </a:ext>
            </a:extLst>
          </p:cNvPr>
          <p:cNvSpPr/>
          <p:nvPr/>
        </p:nvSpPr>
        <p:spPr>
          <a:xfrm>
            <a:off x="142567" y="646781"/>
            <a:ext cx="5461819" cy="68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1E54E-1098-E187-3091-FA2526B94716}"/>
              </a:ext>
            </a:extLst>
          </p:cNvPr>
          <p:cNvSpPr/>
          <p:nvPr/>
        </p:nvSpPr>
        <p:spPr>
          <a:xfrm>
            <a:off x="6277894" y="646781"/>
            <a:ext cx="5771541" cy="615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B7A4F-23A0-3DC2-F16C-7166A8A6CB8B}"/>
              </a:ext>
            </a:extLst>
          </p:cNvPr>
          <p:cNvSpPr txBox="1"/>
          <p:nvPr/>
        </p:nvSpPr>
        <p:spPr>
          <a:xfrm>
            <a:off x="142565" y="690406"/>
            <a:ext cx="546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-Does traffic density affect delivery time?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C3DDDB-EFCE-9AC1-737F-B8C6D8DE3D3E}"/>
              </a:ext>
            </a:extLst>
          </p:cNvPr>
          <p:cNvSpPr txBox="1"/>
          <p:nvPr/>
        </p:nvSpPr>
        <p:spPr>
          <a:xfrm>
            <a:off x="6277892" y="646781"/>
            <a:ext cx="5771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–which weather condition affects most food delivery time.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590D4A7-664C-5B7F-3A14-505156887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612731"/>
              </p:ext>
            </p:extLst>
          </p:nvPr>
        </p:nvGraphicFramePr>
        <p:xfrm>
          <a:off x="1442880" y="1449871"/>
          <a:ext cx="286118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594">
                  <a:extLst>
                    <a:ext uri="{9D8B030D-6E8A-4147-A177-3AD203B41FA5}">
                      <a16:colId xmlns:a16="http://schemas.microsoft.com/office/drawing/2014/main" val="379680492"/>
                    </a:ext>
                  </a:extLst>
                </a:gridCol>
                <a:gridCol w="1430594">
                  <a:extLst>
                    <a:ext uri="{9D8B030D-6E8A-4147-A177-3AD203B41FA5}">
                      <a16:colId xmlns:a16="http://schemas.microsoft.com/office/drawing/2014/main" val="3505191445"/>
                    </a:ext>
                  </a:extLst>
                </a:gridCol>
              </a:tblGrid>
              <a:tr h="5282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Road Traffic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289246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44.6000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73156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41.0000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812310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Medium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33.5000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773213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21.8667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130275"/>
                  </a:ext>
                </a:extLst>
              </a:tr>
            </a:tbl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A86F28-5EAC-1118-9F0A-FFE36590A755}"/>
              </a:ext>
            </a:extLst>
          </p:cNvPr>
          <p:cNvSpPr/>
          <p:nvPr/>
        </p:nvSpPr>
        <p:spPr>
          <a:xfrm>
            <a:off x="245807" y="3666125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324C93-4133-CFA2-9142-B3160C1C620B}"/>
              </a:ext>
            </a:extLst>
          </p:cNvPr>
          <p:cNvSpPr txBox="1"/>
          <p:nvPr/>
        </p:nvSpPr>
        <p:spPr>
          <a:xfrm>
            <a:off x="481781" y="3814916"/>
            <a:ext cx="5279922" cy="2878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FINDING</a:t>
            </a:r>
            <a:r>
              <a:rPr lang="en-US" dirty="0"/>
              <a:t>- High traffic density shows the highest average delivery time.</a:t>
            </a:r>
          </a:p>
          <a:p>
            <a:endParaRPr lang="en-US" dirty="0"/>
          </a:p>
          <a:p>
            <a:r>
              <a:rPr lang="en-US" b="1" dirty="0"/>
              <a:t>BUSINESS INSIGHT</a:t>
            </a:r>
            <a:r>
              <a:rPr lang="en-US" dirty="0"/>
              <a:t>- Traffic congestion is one of the major causes of delayed food delivery operations.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BUSINESS SOLUTION- </a:t>
            </a:r>
          </a:p>
          <a:p>
            <a:r>
              <a:rPr lang="en-US" dirty="0"/>
              <a:t>The company should implement smart route optimization and increase delivery staffing during peak traffic hours.</a:t>
            </a:r>
            <a:endParaRPr lang="en-IN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CFCDB74-F5B5-D60F-228D-9E31899AB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95790"/>
              </p:ext>
            </p:extLst>
          </p:nvPr>
        </p:nvGraphicFramePr>
        <p:xfrm>
          <a:off x="7030063" y="1533922"/>
          <a:ext cx="3519950" cy="1895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975">
                  <a:extLst>
                    <a:ext uri="{9D8B030D-6E8A-4147-A177-3AD203B41FA5}">
                      <a16:colId xmlns:a16="http://schemas.microsoft.com/office/drawing/2014/main" val="3829036595"/>
                    </a:ext>
                  </a:extLst>
                </a:gridCol>
                <a:gridCol w="1759975">
                  <a:extLst>
                    <a:ext uri="{9D8B030D-6E8A-4147-A177-3AD203B41FA5}">
                      <a16:colId xmlns:a16="http://schemas.microsoft.com/office/drawing/2014/main" val="3233026303"/>
                    </a:ext>
                  </a:extLst>
                </a:gridCol>
              </a:tblGrid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Weather condition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02331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Stormy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46.1167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780854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Sandstorms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41.2000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1159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35.8571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8627"/>
                  </a:ext>
                </a:extLst>
              </a:tr>
            </a:tbl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6A1DA98-EF13-041F-6636-618B5007CBDA}"/>
              </a:ext>
            </a:extLst>
          </p:cNvPr>
          <p:cNvSpPr/>
          <p:nvPr/>
        </p:nvSpPr>
        <p:spPr>
          <a:xfrm>
            <a:off x="6356554" y="3593801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C22DB2-9E11-E023-9085-8E943A16CFCB}"/>
              </a:ext>
            </a:extLst>
          </p:cNvPr>
          <p:cNvSpPr txBox="1"/>
          <p:nvPr/>
        </p:nvSpPr>
        <p:spPr>
          <a:xfrm>
            <a:off x="6430297" y="3773432"/>
            <a:ext cx="55158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FINDING-</a:t>
            </a:r>
            <a:r>
              <a:rPr lang="en-US" dirty="0"/>
              <a:t>Stormy weather has the highest average delivery time.</a:t>
            </a:r>
          </a:p>
          <a:p>
            <a:endParaRPr lang="en-US" dirty="0"/>
          </a:p>
          <a:p>
            <a:r>
              <a:rPr lang="en-US" b="1" dirty="0"/>
              <a:t>BUSINESS INSIGHT</a:t>
            </a:r>
            <a:r>
              <a:rPr lang="en-US" dirty="0"/>
              <a:t> - Stormy weather negatively affects delivery efficiency and increases delays.</a:t>
            </a:r>
          </a:p>
          <a:p>
            <a:endParaRPr lang="en-US" dirty="0"/>
          </a:p>
          <a:p>
            <a:r>
              <a:rPr lang="en-US" b="1" dirty="0"/>
              <a:t>BUSINESS SOLUTION </a:t>
            </a:r>
            <a:r>
              <a:rPr lang="en-US" dirty="0"/>
              <a:t>- Implement weather-based route optimization and dynamic ETA prediction to reduce delays during adverse weather conditions. 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93E176-0259-F148-40DE-BD8AE47D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98D4F-F984-A0FB-73FD-E530301C6CBC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5399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C9946-ECBC-B12D-6AE4-CF2BD066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687023-7025-999A-3E9F-2E231C7F4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9A73F3-5696-B68B-C533-2072258E9495}"/>
              </a:ext>
            </a:extLst>
          </p:cNvPr>
          <p:cNvSpPr txBox="1"/>
          <p:nvPr/>
        </p:nvSpPr>
        <p:spPr>
          <a:xfrm>
            <a:off x="1442880" y="125327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008080"/>
                </a:highlight>
              </a:rPr>
              <a:t>D) MULTIPLE DELIVERY ANALYSIS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1F65E-0C02-BB73-6674-B3559D216E27}"/>
              </a:ext>
            </a:extLst>
          </p:cNvPr>
          <p:cNvSpPr txBox="1"/>
          <p:nvPr/>
        </p:nvSpPr>
        <p:spPr>
          <a:xfrm>
            <a:off x="7934631" y="146067"/>
            <a:ext cx="2458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highlight>
                  <a:srgbClr val="008080"/>
                </a:highlight>
              </a:rPr>
              <a:t>E) CITY PERFORMACE</a:t>
            </a:r>
            <a:r>
              <a:rPr lang="en-IN" sz="2000" b="1" dirty="0">
                <a:highlight>
                  <a:srgbClr val="00808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75BDAA-465C-3E69-C81B-2AA76A64E23C}"/>
              </a:ext>
            </a:extLst>
          </p:cNvPr>
          <p:cNvSpPr/>
          <p:nvPr/>
        </p:nvSpPr>
        <p:spPr>
          <a:xfrm>
            <a:off x="142567" y="646781"/>
            <a:ext cx="5461819" cy="68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926CE8-85E1-CAD2-1A3C-6E531512614A}"/>
              </a:ext>
            </a:extLst>
          </p:cNvPr>
          <p:cNvSpPr/>
          <p:nvPr/>
        </p:nvSpPr>
        <p:spPr>
          <a:xfrm>
            <a:off x="6277894" y="646781"/>
            <a:ext cx="5771541" cy="615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E1DA47-8F43-A38D-B1D5-97C6A8FD817F}"/>
              </a:ext>
            </a:extLst>
          </p:cNvPr>
          <p:cNvSpPr txBox="1"/>
          <p:nvPr/>
        </p:nvSpPr>
        <p:spPr>
          <a:xfrm>
            <a:off x="142565" y="690406"/>
            <a:ext cx="546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- impact of multiple deliveries on delivery time?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A4DAC-4546-5A90-64CB-F9946FB39D03}"/>
              </a:ext>
            </a:extLst>
          </p:cNvPr>
          <p:cNvSpPr txBox="1"/>
          <p:nvPr/>
        </p:nvSpPr>
        <p:spPr>
          <a:xfrm>
            <a:off x="6277892" y="646781"/>
            <a:ext cx="5771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– what is delivery performance across different city types?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69626B5-CB2E-1521-AA8C-F4D360D5C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267155"/>
              </p:ext>
            </p:extLst>
          </p:nvPr>
        </p:nvGraphicFramePr>
        <p:xfrm>
          <a:off x="1442880" y="1449871"/>
          <a:ext cx="286118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594">
                  <a:extLst>
                    <a:ext uri="{9D8B030D-6E8A-4147-A177-3AD203B41FA5}">
                      <a16:colId xmlns:a16="http://schemas.microsoft.com/office/drawing/2014/main" val="379680492"/>
                    </a:ext>
                  </a:extLst>
                </a:gridCol>
                <a:gridCol w="1430594">
                  <a:extLst>
                    <a:ext uri="{9D8B030D-6E8A-4147-A177-3AD203B41FA5}">
                      <a16:colId xmlns:a16="http://schemas.microsoft.com/office/drawing/2014/main" val="3505191445"/>
                    </a:ext>
                  </a:extLst>
                </a:gridCol>
              </a:tblGrid>
              <a:tr h="5282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Multiple Deliveries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289246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35.5357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73156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30.8947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812310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36.0000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773213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52.0000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130275"/>
                  </a:ext>
                </a:extLst>
              </a:tr>
            </a:tbl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F1BB56F-EFDC-0E75-4C8C-E676571C1BBD}"/>
              </a:ext>
            </a:extLst>
          </p:cNvPr>
          <p:cNvSpPr/>
          <p:nvPr/>
        </p:nvSpPr>
        <p:spPr>
          <a:xfrm>
            <a:off x="245807" y="3666125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E557CB-CD66-AC87-C0B4-A7F67F8DA5E8}"/>
              </a:ext>
            </a:extLst>
          </p:cNvPr>
          <p:cNvSpPr txBox="1"/>
          <p:nvPr/>
        </p:nvSpPr>
        <p:spPr>
          <a:xfrm>
            <a:off x="572729" y="3699969"/>
            <a:ext cx="52110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FINDING</a:t>
            </a:r>
            <a:r>
              <a:rPr lang="en-US" dirty="0"/>
              <a:t>- Orders with 3 multiple deliveries have the highest average delivery time, and delivery time decreases as the number of deliveries decreases</a:t>
            </a:r>
          </a:p>
          <a:p>
            <a:endParaRPr lang="en-US" dirty="0"/>
          </a:p>
          <a:p>
            <a:r>
              <a:rPr lang="en-US" b="1" dirty="0"/>
              <a:t>BUSINESS INSIGHT</a:t>
            </a:r>
            <a:r>
              <a:rPr lang="en-US" dirty="0"/>
              <a:t>- Handling multiple orders simultaneously increases delivery delays and reduces operational efficiency</a:t>
            </a:r>
          </a:p>
          <a:p>
            <a:endParaRPr lang="en-US" dirty="0"/>
          </a:p>
          <a:p>
            <a:r>
              <a:rPr lang="en-US" b="1" dirty="0"/>
              <a:t>BUSINESS SOLUTION- </a:t>
            </a:r>
            <a:r>
              <a:rPr lang="en-US" dirty="0"/>
              <a:t>Limit multiple deliveries during peak hours and optimize delivery allocation to reduce delays</a:t>
            </a:r>
          </a:p>
          <a:p>
            <a:endParaRPr lang="en-IN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E32C0C7-2B47-53AE-4822-7E7BB0368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305826"/>
              </p:ext>
            </p:extLst>
          </p:nvPr>
        </p:nvGraphicFramePr>
        <p:xfrm>
          <a:off x="7030063" y="1533922"/>
          <a:ext cx="3519950" cy="1895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975">
                  <a:extLst>
                    <a:ext uri="{9D8B030D-6E8A-4147-A177-3AD203B41FA5}">
                      <a16:colId xmlns:a16="http://schemas.microsoft.com/office/drawing/2014/main" val="3829036595"/>
                    </a:ext>
                  </a:extLst>
                </a:gridCol>
                <a:gridCol w="1759975">
                  <a:extLst>
                    <a:ext uri="{9D8B030D-6E8A-4147-A177-3AD203B41FA5}">
                      <a16:colId xmlns:a16="http://schemas.microsoft.com/office/drawing/2014/main" val="3233026303"/>
                    </a:ext>
                  </a:extLst>
                </a:gridCol>
              </a:tblGrid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02331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Metropolitan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35.5625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780854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30.8000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1159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Semi-urban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35.3333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8627"/>
                  </a:ext>
                </a:extLst>
              </a:tr>
            </a:tbl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A996F4-6401-B8AF-5A7E-DD861E329F18}"/>
              </a:ext>
            </a:extLst>
          </p:cNvPr>
          <p:cNvSpPr/>
          <p:nvPr/>
        </p:nvSpPr>
        <p:spPr>
          <a:xfrm>
            <a:off x="6356554" y="3593801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92E06D-1972-47E8-E267-E5D75E59F0FF}"/>
              </a:ext>
            </a:extLst>
          </p:cNvPr>
          <p:cNvSpPr txBox="1"/>
          <p:nvPr/>
        </p:nvSpPr>
        <p:spPr>
          <a:xfrm>
            <a:off x="6533535" y="3812761"/>
            <a:ext cx="55158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FINDING</a:t>
            </a:r>
            <a:r>
              <a:rPr lang="en-US" dirty="0"/>
              <a:t>-Metropolitan cities have the highest average delivery time, followed by Semi-Urban and Urban cities</a:t>
            </a:r>
          </a:p>
          <a:p>
            <a:endParaRPr lang="en-US" dirty="0"/>
          </a:p>
          <a:p>
            <a:r>
              <a:rPr lang="en-US" b="1" dirty="0"/>
              <a:t>BUSINESS INSIGHT</a:t>
            </a:r>
            <a:r>
              <a:rPr lang="en-US" dirty="0"/>
              <a:t> - High traffic and operational complexity in metropolitan areas lead to longer delivery times.</a:t>
            </a:r>
          </a:p>
          <a:p>
            <a:endParaRPr lang="en-US" dirty="0"/>
          </a:p>
          <a:p>
            <a:r>
              <a:rPr lang="en-US" b="1" dirty="0"/>
              <a:t>BUSINESS SOLUTION </a:t>
            </a:r>
            <a:r>
              <a:rPr lang="en-US" dirty="0"/>
              <a:t>- Improve route optimization and increase delivery resources in metropolitan cities to reduce delays and improve efficiency. 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A2F5D6-767C-E0D1-8860-36E3D456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7F332-C3BA-9FD5-D789-987A6591CD58}"/>
              </a:ext>
            </a:extLst>
          </p:cNvPr>
          <p:cNvSpPr txBox="1"/>
          <p:nvPr/>
        </p:nvSpPr>
        <p:spPr>
          <a:xfrm>
            <a:off x="11863844" y="33790"/>
            <a:ext cx="37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7185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DDC02-96E5-486D-864B-263287FB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5F883B-B998-24F0-3CF4-A04A8FC9F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EB7F84-6A39-1728-2D6E-9FCC27EEC080}"/>
              </a:ext>
            </a:extLst>
          </p:cNvPr>
          <p:cNvSpPr txBox="1"/>
          <p:nvPr/>
        </p:nvSpPr>
        <p:spPr>
          <a:xfrm>
            <a:off x="1275735" y="114596"/>
            <a:ext cx="369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808080"/>
                </a:highlight>
              </a:rPr>
              <a:t>F) DRIVER PERFORMANCE ANALYSIS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00641-6BF1-1DD1-2CAC-977B55D9BAD1}"/>
              </a:ext>
            </a:extLst>
          </p:cNvPr>
          <p:cNvSpPr txBox="1"/>
          <p:nvPr/>
        </p:nvSpPr>
        <p:spPr>
          <a:xfrm>
            <a:off x="7720779" y="126402"/>
            <a:ext cx="4136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808080"/>
                </a:highlight>
              </a:rPr>
              <a:t>G) Ranking Driver (Windows Function)</a:t>
            </a:r>
            <a:r>
              <a:rPr lang="en-IN" b="1" dirty="0">
                <a:highlight>
                  <a:srgbClr val="80808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D84B1C-AC14-398C-F8C6-F2F710BBE7F2}"/>
              </a:ext>
            </a:extLst>
          </p:cNvPr>
          <p:cNvSpPr/>
          <p:nvPr/>
        </p:nvSpPr>
        <p:spPr>
          <a:xfrm>
            <a:off x="245803" y="584531"/>
            <a:ext cx="5461819" cy="68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C377E2-A82A-E936-F74D-20586C19C91F}"/>
              </a:ext>
            </a:extLst>
          </p:cNvPr>
          <p:cNvSpPr/>
          <p:nvPr/>
        </p:nvSpPr>
        <p:spPr>
          <a:xfrm>
            <a:off x="6277894" y="646781"/>
            <a:ext cx="5771541" cy="615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B52FC4-9A20-DB96-D098-A585558AD8E4}"/>
              </a:ext>
            </a:extLst>
          </p:cNvPr>
          <p:cNvSpPr txBox="1"/>
          <p:nvPr/>
        </p:nvSpPr>
        <p:spPr>
          <a:xfrm>
            <a:off x="361335" y="621712"/>
            <a:ext cx="546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-Identify top-performing delivery agents based on delivery efficiency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821B5-4BF2-0BC1-DF20-42E0B7DDE948}"/>
              </a:ext>
            </a:extLst>
          </p:cNvPr>
          <p:cNvSpPr txBox="1"/>
          <p:nvPr/>
        </p:nvSpPr>
        <p:spPr>
          <a:xfrm>
            <a:off x="6277890" y="595472"/>
            <a:ext cx="5771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–Rank delivery agents based on delivery performance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0609AA-AFA5-C164-E329-6041521D14A5}"/>
              </a:ext>
            </a:extLst>
          </p:cNvPr>
          <p:cNvSpPr/>
          <p:nvPr/>
        </p:nvSpPr>
        <p:spPr>
          <a:xfrm>
            <a:off x="245807" y="3666125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D8C507-1AC8-E5C7-3387-9862162603AD}"/>
              </a:ext>
            </a:extLst>
          </p:cNvPr>
          <p:cNvSpPr txBox="1"/>
          <p:nvPr/>
        </p:nvSpPr>
        <p:spPr>
          <a:xfrm>
            <a:off x="481781" y="3814916"/>
            <a:ext cx="52799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FINDING</a:t>
            </a:r>
            <a:r>
              <a:rPr lang="en-US" dirty="0"/>
              <a:t>- Delivery agents AB13, AB44, AB14, AB30, and AB33 have the shortest average delivery time.</a:t>
            </a:r>
          </a:p>
          <a:p>
            <a:endParaRPr lang="en-US" dirty="0"/>
          </a:p>
          <a:p>
            <a:r>
              <a:rPr lang="en-US" b="1" dirty="0"/>
              <a:t>BUSINESS INSIGHT</a:t>
            </a:r>
            <a:r>
              <a:rPr lang="en-US" dirty="0"/>
              <a:t>- Efficient delivery agents help reduce delivery delays and improve operational performance.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BUSINESS SOLUTION- </a:t>
            </a:r>
            <a:r>
              <a:rPr lang="en-US" dirty="0"/>
              <a:t>Analyze the working patterns of top-performing drivers and use them as benchmarks for training other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225C1AD-00C7-E596-9C89-9A0B45A342C2}"/>
              </a:ext>
            </a:extLst>
          </p:cNvPr>
          <p:cNvSpPr/>
          <p:nvPr/>
        </p:nvSpPr>
        <p:spPr>
          <a:xfrm>
            <a:off x="6356554" y="3593801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F5F457-1D9F-C8F7-DDE5-F3EE1662AC9A}"/>
              </a:ext>
            </a:extLst>
          </p:cNvPr>
          <p:cNvSpPr txBox="1"/>
          <p:nvPr/>
        </p:nvSpPr>
        <p:spPr>
          <a:xfrm>
            <a:off x="6359012" y="3947918"/>
            <a:ext cx="57617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FINDING-</a:t>
            </a:r>
            <a:r>
              <a:rPr lang="en-US" sz="1600" dirty="0"/>
              <a:t>Delivery agents AB13 and AB44 achieved Rank 1, followed by AB14, AB30, and AB33 among the top-performing drivers based on average delivery time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 - Top-ranked delivery agents demonstrate higher delivery efficiency and faster order completion</a:t>
            </a:r>
          </a:p>
          <a:p>
            <a:endParaRPr lang="en-US" sz="1600" dirty="0"/>
          </a:p>
          <a:p>
            <a:r>
              <a:rPr lang="en-US" sz="1600" b="1" dirty="0"/>
              <a:t>BUSINESS SOLUION </a:t>
            </a:r>
            <a:r>
              <a:rPr lang="en-US" sz="1600" dirty="0"/>
              <a:t>- Use performance ranking to identify efficient drivers, improve workforce management, and provide training based on top performers’ delivery practices. </a:t>
            </a:r>
            <a:endParaRPr lang="en-IN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A6CE6F-7498-6749-371E-D556590AF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264991"/>
              </p:ext>
            </p:extLst>
          </p:nvPr>
        </p:nvGraphicFramePr>
        <p:xfrm>
          <a:off x="1039761" y="1380361"/>
          <a:ext cx="4104968" cy="2213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3792258979"/>
                    </a:ext>
                  </a:extLst>
                </a:gridCol>
                <a:gridCol w="2052484">
                  <a:extLst>
                    <a:ext uri="{9D8B030D-6E8A-4147-A177-3AD203B41FA5}">
                      <a16:colId xmlns:a16="http://schemas.microsoft.com/office/drawing/2014/main" val="2059775613"/>
                    </a:ext>
                  </a:extLst>
                </a:gridCol>
              </a:tblGrid>
              <a:tr h="3850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Delivery Person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980135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244288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00907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333673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529364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491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C90ED5-289D-8FAB-F7DD-2CE399F35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629499"/>
              </p:ext>
            </p:extLst>
          </p:nvPr>
        </p:nvGraphicFramePr>
        <p:xfrm>
          <a:off x="7150508" y="1290098"/>
          <a:ext cx="4104968" cy="2213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3249215556"/>
                    </a:ext>
                  </a:extLst>
                </a:gridCol>
                <a:gridCol w="2052484">
                  <a:extLst>
                    <a:ext uri="{9D8B030D-6E8A-4147-A177-3AD203B41FA5}">
                      <a16:colId xmlns:a16="http://schemas.microsoft.com/office/drawing/2014/main" val="970520014"/>
                    </a:ext>
                  </a:extLst>
                </a:gridCol>
              </a:tblGrid>
              <a:tr h="3850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Delivery Person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18898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695233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511517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51161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72465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87007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A1A958-2B18-26B5-378C-0EC8C143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2BDD5-6722-2A78-3568-E7B775C9D951}"/>
              </a:ext>
            </a:extLst>
          </p:cNvPr>
          <p:cNvSpPr txBox="1"/>
          <p:nvPr/>
        </p:nvSpPr>
        <p:spPr>
          <a:xfrm>
            <a:off x="11744628" y="62836"/>
            <a:ext cx="447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97148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84DB-69C3-9FE2-5E8B-34DE1DAD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1BF564-346F-18BB-ECAC-B4BD30C55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931CFA-D5AC-B636-A245-7C9F1DA9FF1B}"/>
              </a:ext>
            </a:extLst>
          </p:cNvPr>
          <p:cNvSpPr txBox="1"/>
          <p:nvPr/>
        </p:nvSpPr>
        <p:spPr>
          <a:xfrm>
            <a:off x="1489587" y="164315"/>
            <a:ext cx="2458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008080"/>
                </a:highlight>
              </a:rPr>
              <a:t>H) SUBQUERY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776F98-943E-6E5D-46F1-4BE945838AF7}"/>
              </a:ext>
            </a:extLst>
          </p:cNvPr>
          <p:cNvSpPr txBox="1"/>
          <p:nvPr/>
        </p:nvSpPr>
        <p:spPr>
          <a:xfrm>
            <a:off x="7619999" y="216346"/>
            <a:ext cx="368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008080"/>
                </a:highlight>
              </a:rPr>
              <a:t>I) VEHICLE PERFORMACE ANALYSIS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B8BF8B-D2F2-EF60-D03A-DCBEDC87DBD5}"/>
              </a:ext>
            </a:extLst>
          </p:cNvPr>
          <p:cNvSpPr/>
          <p:nvPr/>
        </p:nvSpPr>
        <p:spPr>
          <a:xfrm>
            <a:off x="142567" y="646781"/>
            <a:ext cx="5461819" cy="68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FFC874-C634-A528-B451-BEA6304D557A}"/>
              </a:ext>
            </a:extLst>
          </p:cNvPr>
          <p:cNvSpPr/>
          <p:nvPr/>
        </p:nvSpPr>
        <p:spPr>
          <a:xfrm>
            <a:off x="6277890" y="716331"/>
            <a:ext cx="5771541" cy="615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76EC89-8EE4-134A-E396-62624548CD9F}"/>
              </a:ext>
            </a:extLst>
          </p:cNvPr>
          <p:cNvSpPr txBox="1"/>
          <p:nvPr/>
        </p:nvSpPr>
        <p:spPr>
          <a:xfrm>
            <a:off x="142565" y="690406"/>
            <a:ext cx="546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-Identify delivery agents performing better than the overall average delivery time.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6116F4-0314-A01C-5277-71CDFAC23582}"/>
              </a:ext>
            </a:extLst>
          </p:cNvPr>
          <p:cNvSpPr txBox="1"/>
          <p:nvPr/>
        </p:nvSpPr>
        <p:spPr>
          <a:xfrm>
            <a:off x="6356554" y="777472"/>
            <a:ext cx="5771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–1)Which vehicle type delivers fastest?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6D3F62-122D-8CE7-EE3E-1B7DEA053ADC}"/>
              </a:ext>
            </a:extLst>
          </p:cNvPr>
          <p:cNvSpPr/>
          <p:nvPr/>
        </p:nvSpPr>
        <p:spPr>
          <a:xfrm>
            <a:off x="245807" y="3666125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123532-5821-9DC8-5030-957DD350B18D}"/>
              </a:ext>
            </a:extLst>
          </p:cNvPr>
          <p:cNvSpPr txBox="1"/>
          <p:nvPr/>
        </p:nvSpPr>
        <p:spPr>
          <a:xfrm>
            <a:off x="398206" y="3862141"/>
            <a:ext cx="5388077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FINDING</a:t>
            </a:r>
            <a:r>
              <a:rPr lang="en-US" sz="1600" dirty="0"/>
              <a:t>- Delivery agents AB13, AB14, AB07, AB032, AB29 performed better than the average delivery time.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- Some delivery agents consistently deliver orders faster than the overall operational average, indicating higher efficiency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r>
              <a:rPr lang="en-US" sz="1600" b="1" dirty="0"/>
              <a:t>BUSINESS SOLUTION- </a:t>
            </a:r>
            <a:r>
              <a:rPr lang="en-US" sz="1600" dirty="0"/>
              <a:t>Recognize high-performing delivery agents and use their delivery practices as performance benchmarks for improving overall delivery efficiency.</a:t>
            </a:r>
          </a:p>
          <a:p>
            <a:endParaRPr lang="en-IN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0BE99FB-211F-A8F2-B5B3-BE3E85A12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044574"/>
              </p:ext>
            </p:extLst>
          </p:nvPr>
        </p:nvGraphicFramePr>
        <p:xfrm>
          <a:off x="7443017" y="1514985"/>
          <a:ext cx="3519950" cy="1895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975">
                  <a:extLst>
                    <a:ext uri="{9D8B030D-6E8A-4147-A177-3AD203B41FA5}">
                      <a16:colId xmlns:a16="http://schemas.microsoft.com/office/drawing/2014/main" val="3829036595"/>
                    </a:ext>
                  </a:extLst>
                </a:gridCol>
                <a:gridCol w="1759975">
                  <a:extLst>
                    <a:ext uri="{9D8B030D-6E8A-4147-A177-3AD203B41FA5}">
                      <a16:colId xmlns:a16="http://schemas.microsoft.com/office/drawing/2014/main" val="3233026303"/>
                    </a:ext>
                  </a:extLst>
                </a:gridCol>
              </a:tblGrid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 of Vehicle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02331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Electric Scooter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37.0000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780854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Motorcycle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35.7308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1159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Scotter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31.4500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8627"/>
                  </a:ext>
                </a:extLst>
              </a:tr>
            </a:tbl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7484C-9A91-CD7D-40E3-ED877E63264E}"/>
              </a:ext>
            </a:extLst>
          </p:cNvPr>
          <p:cNvSpPr/>
          <p:nvPr/>
        </p:nvSpPr>
        <p:spPr>
          <a:xfrm>
            <a:off x="6317221" y="3666060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A3711C-4D67-7EF0-B0E5-21A69419A703}"/>
              </a:ext>
            </a:extLst>
          </p:cNvPr>
          <p:cNvSpPr txBox="1"/>
          <p:nvPr/>
        </p:nvSpPr>
        <p:spPr>
          <a:xfrm>
            <a:off x="6533535" y="3998705"/>
            <a:ext cx="55158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FINDING-</a:t>
            </a:r>
            <a:r>
              <a:rPr lang="en-US" sz="1600" dirty="0"/>
              <a:t>Electric scooters have the highest average delivery time, while scooters show the lowest average delivery time.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 - Vehicle type affects delivery efficiency, and scooters perform better for faster food delivery operations</a:t>
            </a:r>
          </a:p>
          <a:p>
            <a:endParaRPr lang="en-US" sz="1600" dirty="0"/>
          </a:p>
          <a:p>
            <a:r>
              <a:rPr lang="en-US" sz="1600" b="1" dirty="0"/>
              <a:t>BUSINESS SOLUTION </a:t>
            </a:r>
            <a:r>
              <a:rPr lang="en-US" sz="1600" dirty="0"/>
              <a:t>-  Increase scooter allocation for short-distance deliveries and optimize vehicle assignment based on delivery conditions and city routes</a:t>
            </a:r>
            <a:endParaRPr lang="en-IN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71E3C6-B67A-D54C-151D-EF2FE4083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945608"/>
              </p:ext>
            </p:extLst>
          </p:nvPr>
        </p:nvGraphicFramePr>
        <p:xfrm>
          <a:off x="789039" y="1394486"/>
          <a:ext cx="4104968" cy="2213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954161152"/>
                    </a:ext>
                  </a:extLst>
                </a:gridCol>
                <a:gridCol w="2052484">
                  <a:extLst>
                    <a:ext uri="{9D8B030D-6E8A-4147-A177-3AD203B41FA5}">
                      <a16:colId xmlns:a16="http://schemas.microsoft.com/office/drawing/2014/main" val="2216905001"/>
                    </a:ext>
                  </a:extLst>
                </a:gridCol>
              </a:tblGrid>
              <a:tr h="3850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Delivery Person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496041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4328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450071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6661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21.0000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62484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4798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AC3A7-E20E-85AB-D6D0-2B5E6258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8BECD-70C4-BA9E-2B64-A85E2CA40B48}"/>
              </a:ext>
            </a:extLst>
          </p:cNvPr>
          <p:cNvSpPr txBox="1"/>
          <p:nvPr/>
        </p:nvSpPr>
        <p:spPr>
          <a:xfrm>
            <a:off x="11752008" y="55739"/>
            <a:ext cx="43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22183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D3022-7851-F7A9-0F15-2B4AFF1F7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FA2406-CE1C-2E74-250F-6C68A9CC2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C3F223-36AF-584F-31A5-22DF91F2FA82}"/>
              </a:ext>
            </a:extLst>
          </p:cNvPr>
          <p:cNvSpPr txBox="1"/>
          <p:nvPr/>
        </p:nvSpPr>
        <p:spPr>
          <a:xfrm>
            <a:off x="7954295" y="141448"/>
            <a:ext cx="368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808080"/>
                </a:highlight>
              </a:rPr>
              <a:t>I) VEHICLE PERFORMACE ANALYSIS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182DE6-03FF-1573-CE9F-8F8A494EB5A2}"/>
              </a:ext>
            </a:extLst>
          </p:cNvPr>
          <p:cNvSpPr/>
          <p:nvPr/>
        </p:nvSpPr>
        <p:spPr>
          <a:xfrm>
            <a:off x="142567" y="646781"/>
            <a:ext cx="5461819" cy="68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56084-AF2D-BDF0-130B-0B4CC825797C}"/>
              </a:ext>
            </a:extLst>
          </p:cNvPr>
          <p:cNvSpPr/>
          <p:nvPr/>
        </p:nvSpPr>
        <p:spPr>
          <a:xfrm>
            <a:off x="6277894" y="646781"/>
            <a:ext cx="577153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FDFC1D-6BCE-8372-9398-A61EF3035FFE}"/>
              </a:ext>
            </a:extLst>
          </p:cNvPr>
          <p:cNvSpPr txBox="1"/>
          <p:nvPr/>
        </p:nvSpPr>
        <p:spPr>
          <a:xfrm>
            <a:off x="142565" y="690406"/>
            <a:ext cx="546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-2)Does vehicle condition affect delivery efficiency?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2E77F8-F286-4223-9004-C15F6815C0DC}"/>
              </a:ext>
            </a:extLst>
          </p:cNvPr>
          <p:cNvSpPr txBox="1"/>
          <p:nvPr/>
        </p:nvSpPr>
        <p:spPr>
          <a:xfrm>
            <a:off x="6356554" y="646781"/>
            <a:ext cx="557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–3) Which vehicle type performs best in metropolitan cities?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8BE1FF-F968-6F6D-E91C-976E7AF1F465}"/>
              </a:ext>
            </a:extLst>
          </p:cNvPr>
          <p:cNvSpPr/>
          <p:nvPr/>
        </p:nvSpPr>
        <p:spPr>
          <a:xfrm>
            <a:off x="245807" y="3666125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D69A0B-8156-8723-DB0A-C6F69B3C2831}"/>
              </a:ext>
            </a:extLst>
          </p:cNvPr>
          <p:cNvSpPr txBox="1"/>
          <p:nvPr/>
        </p:nvSpPr>
        <p:spPr>
          <a:xfrm>
            <a:off x="398206" y="3862141"/>
            <a:ext cx="5388077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FINDING</a:t>
            </a:r>
            <a:r>
              <a:rPr lang="en-US" sz="1600" dirty="0"/>
              <a:t>- Vehicle condition 3 has the highest average delivery time, while vehicle condition 1 shows the lowest average delivery time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- </a:t>
            </a:r>
          </a:p>
          <a:p>
            <a:r>
              <a:rPr lang="en-US" sz="1600" dirty="0"/>
              <a:t>Poor or unsuitable vehicle conditions can reduce delivery efficiency and increase delivery delays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r>
              <a:rPr lang="en-US" sz="1600" b="1" dirty="0"/>
              <a:t>BUSINESS SOLUTION- </a:t>
            </a:r>
            <a:r>
              <a:rPr lang="en-US" sz="1600" dirty="0"/>
              <a:t>Regular vehicle maintenance and proper vehicle allocation should be implemented to improve delivery performance and reduce operational delays</a:t>
            </a:r>
          </a:p>
          <a:p>
            <a:endParaRPr lang="en-IN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EAF1933-1033-CD1C-2185-F0FB51BC1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007330"/>
              </p:ext>
            </p:extLst>
          </p:nvPr>
        </p:nvGraphicFramePr>
        <p:xfrm>
          <a:off x="7443017" y="1495806"/>
          <a:ext cx="3519950" cy="1895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975">
                  <a:extLst>
                    <a:ext uri="{9D8B030D-6E8A-4147-A177-3AD203B41FA5}">
                      <a16:colId xmlns:a16="http://schemas.microsoft.com/office/drawing/2014/main" val="3829036595"/>
                    </a:ext>
                  </a:extLst>
                </a:gridCol>
                <a:gridCol w="1759975">
                  <a:extLst>
                    <a:ext uri="{9D8B030D-6E8A-4147-A177-3AD203B41FA5}">
                      <a16:colId xmlns:a16="http://schemas.microsoft.com/office/drawing/2014/main" val="3233026303"/>
                    </a:ext>
                  </a:extLst>
                </a:gridCol>
              </a:tblGrid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 of Vehicle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02331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Electric Scooter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780854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Motorcycle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36.5789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1159"/>
                  </a:ext>
                </a:extLst>
              </a:tr>
              <a:tr h="418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Scotter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8627"/>
                  </a:ext>
                </a:extLst>
              </a:tr>
            </a:tbl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7AF692-EC94-B1CD-C944-29EAC23F49F3}"/>
              </a:ext>
            </a:extLst>
          </p:cNvPr>
          <p:cNvSpPr/>
          <p:nvPr/>
        </p:nvSpPr>
        <p:spPr>
          <a:xfrm>
            <a:off x="6356554" y="3593801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5A8090-4D71-D487-28B3-FFEFDCF6BCDA}"/>
              </a:ext>
            </a:extLst>
          </p:cNvPr>
          <p:cNvSpPr txBox="1"/>
          <p:nvPr/>
        </p:nvSpPr>
        <p:spPr>
          <a:xfrm>
            <a:off x="6533535" y="3998705"/>
            <a:ext cx="55158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FINDING</a:t>
            </a:r>
            <a:r>
              <a:rPr lang="en-US" sz="1600" dirty="0"/>
              <a:t>-Electric scooters have the highest average delivery time in metropolitan cities, while scooters show the lowest average delivery time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 - Scooters perform more efficiently in metropolitan areas with high traffic and shorter delivery routes</a:t>
            </a:r>
          </a:p>
          <a:p>
            <a:endParaRPr lang="en-US" sz="1600" dirty="0"/>
          </a:p>
          <a:p>
            <a:r>
              <a:rPr lang="en-US" sz="1600" b="1" dirty="0"/>
              <a:t>BUSINESS SOLUTION </a:t>
            </a:r>
            <a:r>
              <a:rPr lang="en-US" sz="1600" dirty="0"/>
              <a:t>- Increase scooter allocation in metropolitan cities and optimize vehicle selection based on traffic and route conditions to improve delivery efficiency</a:t>
            </a:r>
            <a:endParaRPr lang="en-IN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581BF5-2427-4CA8-C581-676CB81A8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695563"/>
              </p:ext>
            </p:extLst>
          </p:nvPr>
        </p:nvGraphicFramePr>
        <p:xfrm>
          <a:off x="820990" y="1560756"/>
          <a:ext cx="4104968" cy="1848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954161152"/>
                    </a:ext>
                  </a:extLst>
                </a:gridCol>
                <a:gridCol w="2052484">
                  <a:extLst>
                    <a:ext uri="{9D8B030D-6E8A-4147-A177-3AD203B41FA5}">
                      <a16:colId xmlns:a16="http://schemas.microsoft.com/office/drawing/2014/main" val="2216905001"/>
                    </a:ext>
                  </a:extLst>
                </a:gridCol>
              </a:tblGrid>
              <a:tr h="3850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Vehicle Condition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496041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42.0000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4328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30.6875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450071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33.1429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6661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33.9474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6248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F25B16-479D-2FB7-F19D-D7E103D2ECFF}"/>
              </a:ext>
            </a:extLst>
          </p:cNvPr>
          <p:cNvSpPr txBox="1"/>
          <p:nvPr/>
        </p:nvSpPr>
        <p:spPr>
          <a:xfrm>
            <a:off x="1248695" y="130307"/>
            <a:ext cx="368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808080"/>
                </a:highlight>
              </a:rPr>
              <a:t>I) VEHICLE PERFORMACE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57993-DC80-DEFC-3627-9643EFA9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199DF-7D96-63FC-CFCA-3621E88209F9}"/>
              </a:ext>
            </a:extLst>
          </p:cNvPr>
          <p:cNvSpPr txBox="1"/>
          <p:nvPr/>
        </p:nvSpPr>
        <p:spPr>
          <a:xfrm>
            <a:off x="11749548" y="33790"/>
            <a:ext cx="490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14408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86A71-5808-15AA-46B3-3F062900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23EED4-C54A-D824-4C67-84BEFAA9A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C9D94B-C2F4-6B20-8604-DE562A8F8297}"/>
              </a:ext>
            </a:extLst>
          </p:cNvPr>
          <p:cNvSpPr/>
          <p:nvPr/>
        </p:nvSpPr>
        <p:spPr>
          <a:xfrm>
            <a:off x="245807" y="3666125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30D8E8-414D-7EF6-7E17-4B49225C06AF}"/>
              </a:ext>
            </a:extLst>
          </p:cNvPr>
          <p:cNvSpPr txBox="1"/>
          <p:nvPr/>
        </p:nvSpPr>
        <p:spPr>
          <a:xfrm>
            <a:off x="398206" y="3862141"/>
            <a:ext cx="5388077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FINDING</a:t>
            </a:r>
            <a:r>
              <a:rPr lang="en-US" sz="1600" dirty="0"/>
              <a:t>- Buffet orders have the highest average delivery time, while snack orders have the lowest average delivery time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-Larger or more complex food orders like buffet meals may require additional preparation and handling time, leading to delivery delays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r>
              <a:rPr lang="en-US" sz="1600" b="1" dirty="0"/>
              <a:t>BUSINESS SOLUTION- </a:t>
            </a:r>
            <a:r>
              <a:rPr lang="en-US" sz="1600" dirty="0"/>
              <a:t>Implement better order preparation coordination and assign experienced delivery agents for large buffet orders to improve delivery efficiency</a:t>
            </a:r>
          </a:p>
          <a:p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00F4361-780A-894F-4FAD-DC78796A412F}"/>
              </a:ext>
            </a:extLst>
          </p:cNvPr>
          <p:cNvSpPr/>
          <p:nvPr/>
        </p:nvSpPr>
        <p:spPr>
          <a:xfrm>
            <a:off x="6356554" y="3593801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2DADF8-DE4C-C583-2193-DB122C91883E}"/>
              </a:ext>
            </a:extLst>
          </p:cNvPr>
          <p:cNvSpPr txBox="1"/>
          <p:nvPr/>
        </p:nvSpPr>
        <p:spPr>
          <a:xfrm>
            <a:off x="6445044" y="3824807"/>
            <a:ext cx="551589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FINDING</a:t>
            </a:r>
            <a:r>
              <a:rPr lang="en-US" sz="1600" dirty="0"/>
              <a:t>-Snack and Meal orders are the most frequently placed order types, followed by Drinks orders.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 - Customers show higher demand for quick meals and snack items, making them the core revenue-driving order categories</a:t>
            </a:r>
          </a:p>
          <a:p>
            <a:endParaRPr lang="en-US" sz="1600" dirty="0"/>
          </a:p>
          <a:p>
            <a:r>
              <a:rPr lang="en-US" sz="1600" b="1" dirty="0"/>
              <a:t>BUSINESS SOLUTION </a:t>
            </a:r>
            <a:r>
              <a:rPr lang="en-US" sz="1600" dirty="0"/>
              <a:t>-Improve operational planning and inventory management for high-demand meal and snack categories to ensure faster service and better customer satisfaction. 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3BB8E-81E9-92EB-5086-403CE00B241F}"/>
              </a:ext>
            </a:extLst>
          </p:cNvPr>
          <p:cNvSpPr txBox="1"/>
          <p:nvPr/>
        </p:nvSpPr>
        <p:spPr>
          <a:xfrm>
            <a:off x="4547416" y="34838"/>
            <a:ext cx="44589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highlight>
                  <a:srgbClr val="008080"/>
                </a:highlight>
              </a:rPr>
              <a:t>J) Order Type Analysis 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8426D-77E0-4A21-199F-74ED44CFA915}"/>
              </a:ext>
            </a:extLst>
          </p:cNvPr>
          <p:cNvSpPr/>
          <p:nvPr/>
        </p:nvSpPr>
        <p:spPr>
          <a:xfrm>
            <a:off x="255636" y="507306"/>
            <a:ext cx="5579810" cy="913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A88E5-1608-E532-E589-7108442887F3}"/>
              </a:ext>
            </a:extLst>
          </p:cNvPr>
          <p:cNvSpPr txBox="1"/>
          <p:nvPr/>
        </p:nvSpPr>
        <p:spPr>
          <a:xfrm>
            <a:off x="388375" y="539418"/>
            <a:ext cx="5461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- 1)Which order type takes longest delivery time? / Analyze delivery performance across different order types.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2A2F0-8B89-0FC1-401D-918BC8D1F689}"/>
              </a:ext>
            </a:extLst>
          </p:cNvPr>
          <p:cNvSpPr/>
          <p:nvPr/>
        </p:nvSpPr>
        <p:spPr>
          <a:xfrm>
            <a:off x="6096000" y="520554"/>
            <a:ext cx="5864937" cy="913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B0C0F-A23A-B8B0-1398-C6DAB3E554E9}"/>
              </a:ext>
            </a:extLst>
          </p:cNvPr>
          <p:cNvSpPr txBox="1"/>
          <p:nvPr/>
        </p:nvSpPr>
        <p:spPr>
          <a:xfrm>
            <a:off x="6213991" y="511199"/>
            <a:ext cx="5746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–2) Which order type is most frequently ordered?  / Identify the most frequently ordered food categories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C97C7A9-1B5D-14E5-721F-186E00E8B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396125"/>
              </p:ext>
            </p:extLst>
          </p:nvPr>
        </p:nvGraphicFramePr>
        <p:xfrm>
          <a:off x="835742" y="1580872"/>
          <a:ext cx="4104968" cy="1848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544780720"/>
                    </a:ext>
                  </a:extLst>
                </a:gridCol>
                <a:gridCol w="2052484">
                  <a:extLst>
                    <a:ext uri="{9D8B030D-6E8A-4147-A177-3AD203B41FA5}">
                      <a16:colId xmlns:a16="http://schemas.microsoft.com/office/drawing/2014/main" val="3457133071"/>
                    </a:ext>
                  </a:extLst>
                </a:gridCol>
              </a:tblGrid>
              <a:tr h="3850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 of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439587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Buffet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36.6000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73335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Drinks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35.0000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776128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92755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Snacks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33.9474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04921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CA1F0E5-DA59-523D-2D52-DEB6DD386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542070"/>
              </p:ext>
            </p:extLst>
          </p:nvPr>
        </p:nvGraphicFramePr>
        <p:xfrm>
          <a:off x="6985819" y="1543221"/>
          <a:ext cx="4104968" cy="1848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480632931"/>
                    </a:ext>
                  </a:extLst>
                </a:gridCol>
                <a:gridCol w="2052484">
                  <a:extLst>
                    <a:ext uri="{9D8B030D-6E8A-4147-A177-3AD203B41FA5}">
                      <a16:colId xmlns:a16="http://schemas.microsoft.com/office/drawing/2014/main" val="816038086"/>
                    </a:ext>
                  </a:extLst>
                </a:gridCol>
              </a:tblGrid>
              <a:tr h="3850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 of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orders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21984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Snacks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641335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743927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Drinks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636835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Buffet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5846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7E1F54-69A7-0382-9EEB-C1621B5A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9F72F-70FB-DBED-CE85-4AE868178CFD}"/>
              </a:ext>
            </a:extLst>
          </p:cNvPr>
          <p:cNvSpPr txBox="1"/>
          <p:nvPr/>
        </p:nvSpPr>
        <p:spPr>
          <a:xfrm>
            <a:off x="11803626" y="33790"/>
            <a:ext cx="4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39049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120C3-9516-8404-80C2-085CE820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15A5DA-11F9-F23D-6265-62C7B038D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9AEB48-1C91-5EB3-A27E-B54E0BC57192}"/>
              </a:ext>
            </a:extLst>
          </p:cNvPr>
          <p:cNvSpPr/>
          <p:nvPr/>
        </p:nvSpPr>
        <p:spPr>
          <a:xfrm>
            <a:off x="2104102" y="3539949"/>
            <a:ext cx="8160774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E3A452-7FA3-9CDF-9AEC-7702D9C2CF33}"/>
              </a:ext>
            </a:extLst>
          </p:cNvPr>
          <p:cNvSpPr txBox="1"/>
          <p:nvPr/>
        </p:nvSpPr>
        <p:spPr>
          <a:xfrm>
            <a:off x="2384322" y="3765371"/>
            <a:ext cx="77035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FINDING</a:t>
            </a:r>
            <a:r>
              <a:rPr lang="en-US" sz="1600" dirty="0"/>
              <a:t>- Orders placed during afternoon and evening hours, especially around 7 PM to 9 PM, show the highest average delivery times. The highest delay was observed at 11:10 PM and 7:35 PM.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-Peak order timings increase operational pressure, traffic congestion, and restaurant preparation load, leading to longer delivery times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r>
              <a:rPr lang="en-US" sz="1600" b="1" dirty="0"/>
              <a:t>BUSINESS SOLUTION- </a:t>
            </a:r>
            <a:r>
              <a:rPr lang="en-US" sz="1600" dirty="0"/>
              <a:t>Increase delivery staff and optimize order allocation during peak evening hours to reduce delays and improve delivery efficiency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7A562-3298-4B5F-12C4-47B427E15EE2}"/>
              </a:ext>
            </a:extLst>
          </p:cNvPr>
          <p:cNvSpPr txBox="1"/>
          <p:nvPr/>
        </p:nvSpPr>
        <p:spPr>
          <a:xfrm>
            <a:off x="4677690" y="13715"/>
            <a:ext cx="2605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808080"/>
                </a:highlight>
              </a:rPr>
              <a:t>k) TIME-BASED ANALYSIS 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88034-7FF7-EC48-0D60-80BB73DF9C8B}"/>
              </a:ext>
            </a:extLst>
          </p:cNvPr>
          <p:cNvSpPr/>
          <p:nvPr/>
        </p:nvSpPr>
        <p:spPr>
          <a:xfrm>
            <a:off x="388375" y="397422"/>
            <a:ext cx="11375925" cy="678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C4995-B3A2-81F3-4476-F2A61260E00F}"/>
              </a:ext>
            </a:extLst>
          </p:cNvPr>
          <p:cNvSpPr txBox="1"/>
          <p:nvPr/>
        </p:nvSpPr>
        <p:spPr>
          <a:xfrm>
            <a:off x="427700" y="457963"/>
            <a:ext cx="11105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- 1) Which order time has highest delivery time? /Analyze delivery performance based on order timing to identify peak delay periods.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13AF8D-B1E7-6A04-A12C-E081D30A5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215380"/>
              </p:ext>
            </p:extLst>
          </p:nvPr>
        </p:nvGraphicFramePr>
        <p:xfrm>
          <a:off x="4018935" y="1164835"/>
          <a:ext cx="4308988" cy="2264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494">
                  <a:extLst>
                    <a:ext uri="{9D8B030D-6E8A-4147-A177-3AD203B41FA5}">
                      <a16:colId xmlns:a16="http://schemas.microsoft.com/office/drawing/2014/main" val="1539954062"/>
                    </a:ext>
                  </a:extLst>
                </a:gridCol>
                <a:gridCol w="2154494">
                  <a:extLst>
                    <a:ext uri="{9D8B030D-6E8A-4147-A177-3AD203B41FA5}">
                      <a16:colId xmlns:a16="http://schemas.microsoft.com/office/drawing/2014/main" val="2664540372"/>
                    </a:ext>
                  </a:extLst>
                </a:gridCol>
              </a:tblGrid>
              <a:tr h="377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Time_ordered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283889"/>
                  </a:ext>
                </a:extLst>
              </a:tr>
              <a:tr h="377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11:10:10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52.0000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414664"/>
                  </a:ext>
                </a:extLst>
              </a:tr>
              <a:tr h="377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19:35:00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48.0000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806489"/>
                  </a:ext>
                </a:extLst>
              </a:tr>
              <a:tr h="377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19:15:00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47.0000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615437"/>
                  </a:ext>
                </a:extLst>
              </a:tr>
              <a:tr h="377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11:20:00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47.0000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8869"/>
                  </a:ext>
                </a:extLst>
              </a:tr>
              <a:tr h="377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21:20:00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47.0000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51765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4508C-2B88-CF77-4C39-13DD9F67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5D960C-4896-7A58-4166-3BA7C3A21BEE}"/>
              </a:ext>
            </a:extLst>
          </p:cNvPr>
          <p:cNvSpPr txBox="1"/>
          <p:nvPr/>
        </p:nvSpPr>
        <p:spPr>
          <a:xfrm>
            <a:off x="11803626" y="33790"/>
            <a:ext cx="4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40926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018C2-C06C-A1F8-8855-F48FA402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9817E-1A6E-2074-B993-84A6FA0C3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4838"/>
            <a:ext cx="12192000" cy="68580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23B2DC-E6EB-685B-AE8B-BC58F494C7DF}"/>
              </a:ext>
            </a:extLst>
          </p:cNvPr>
          <p:cNvSpPr/>
          <p:nvPr/>
        </p:nvSpPr>
        <p:spPr>
          <a:xfrm>
            <a:off x="521111" y="3964813"/>
            <a:ext cx="5375788" cy="2747120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680C7A-64CB-1CA4-1ED5-E8466008642C}"/>
              </a:ext>
            </a:extLst>
          </p:cNvPr>
          <p:cNvSpPr txBox="1"/>
          <p:nvPr/>
        </p:nvSpPr>
        <p:spPr>
          <a:xfrm>
            <a:off x="599767" y="4155527"/>
            <a:ext cx="51570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/>
              <a:t>FINDING</a:t>
            </a:r>
            <a:r>
              <a:rPr lang="en-US" sz="1400" dirty="0"/>
              <a:t>- Stormy and Sandstorm weather conditions combined with Jam traffic show the highest average delivery times, while Sunny and Low traffic conditions show the lowest delays</a:t>
            </a:r>
          </a:p>
          <a:p>
            <a:endParaRPr lang="en-US" sz="1400" dirty="0"/>
          </a:p>
          <a:p>
            <a:r>
              <a:rPr lang="en-US" sz="1400" b="1" dirty="0"/>
              <a:t>BUSINESS INSIGHT</a:t>
            </a:r>
            <a:r>
              <a:rPr lang="en-US" sz="1400" dirty="0"/>
              <a:t>-Severe weather conditions along with heavy traffic significantly increase delivery delays and operational risk.</a:t>
            </a:r>
          </a:p>
          <a:p>
            <a:endParaRPr lang="en-US" sz="1400" dirty="0"/>
          </a:p>
          <a:p>
            <a:r>
              <a:rPr lang="en-US" sz="1400" dirty="0"/>
              <a:t> </a:t>
            </a:r>
            <a:r>
              <a:rPr lang="en-US" sz="1400" b="1" dirty="0"/>
              <a:t>BUSINESS SOLUTION- </a:t>
            </a:r>
            <a:endParaRPr lang="en-US" sz="1400" dirty="0"/>
          </a:p>
          <a:p>
            <a:r>
              <a:rPr lang="en-US" sz="1400" dirty="0"/>
              <a:t>Implement dynamic delivery planning during adverse weather conditions by increasing delivery resources, optimizing routes, and improving ETA prediction for customers.</a:t>
            </a:r>
            <a:endParaRPr lang="en-IN" sz="1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C6339C-2E67-F61F-7699-ECA72A5C73F2}"/>
              </a:ext>
            </a:extLst>
          </p:cNvPr>
          <p:cNvSpPr/>
          <p:nvPr/>
        </p:nvSpPr>
        <p:spPr>
          <a:xfrm>
            <a:off x="6356554" y="3593801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AE39E3-9CD6-5B1C-BFBB-4836576A1FF3}"/>
              </a:ext>
            </a:extLst>
          </p:cNvPr>
          <p:cNvSpPr txBox="1"/>
          <p:nvPr/>
        </p:nvSpPr>
        <p:spPr>
          <a:xfrm>
            <a:off x="6445044" y="3824807"/>
            <a:ext cx="551589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FINDING</a:t>
            </a:r>
            <a:r>
              <a:rPr lang="en-US" sz="1600" dirty="0"/>
              <a:t>-Orders with 1 multiple delivery show slightly higher average delivery time compared to orders with no multiple deliveries during jam traffic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 - Assigning multiple deliveries to delivery agents during heavy traffic conditions can increase operational delays and reduce delivery efficiency</a:t>
            </a:r>
          </a:p>
          <a:p>
            <a:endParaRPr lang="en-US" sz="1600" dirty="0"/>
          </a:p>
          <a:p>
            <a:r>
              <a:rPr lang="en-US" sz="1600" b="1" dirty="0"/>
              <a:t>BUSINESS SOLUTION </a:t>
            </a:r>
            <a:r>
              <a:rPr lang="en-US" sz="1600" dirty="0"/>
              <a:t>-Limit multiple order assignments during jam traffic and optimize delivery allocation to improve delivery speed and customer satisfaction.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CD28B-51CC-2688-F65E-FBBB80F298E7}"/>
              </a:ext>
            </a:extLst>
          </p:cNvPr>
          <p:cNvSpPr txBox="1"/>
          <p:nvPr/>
        </p:nvSpPr>
        <p:spPr>
          <a:xfrm>
            <a:off x="4446635" y="16697"/>
            <a:ext cx="3288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highlight>
                  <a:srgbClr val="008080"/>
                </a:highlight>
              </a:rPr>
              <a:t>L)Delay Risk Analysis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3E82D-008D-9682-8FFA-81954ED1C75E}"/>
              </a:ext>
            </a:extLst>
          </p:cNvPr>
          <p:cNvSpPr/>
          <p:nvPr/>
        </p:nvSpPr>
        <p:spPr>
          <a:xfrm>
            <a:off x="255636" y="507306"/>
            <a:ext cx="5579810" cy="913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C0368-D114-FA4A-0403-7DAC27D4D9D1}"/>
              </a:ext>
            </a:extLst>
          </p:cNvPr>
          <p:cNvSpPr txBox="1"/>
          <p:nvPr/>
        </p:nvSpPr>
        <p:spPr>
          <a:xfrm>
            <a:off x="285126" y="539419"/>
            <a:ext cx="5579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Business Problem - 1)Which weather and traffic combination causes highest delays? / Identify which weather and traffic combinations create the highest delivery delays.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1F4114-FC9C-DD02-584E-2E8C8F080591}"/>
              </a:ext>
            </a:extLst>
          </p:cNvPr>
          <p:cNvSpPr/>
          <p:nvPr/>
        </p:nvSpPr>
        <p:spPr>
          <a:xfrm>
            <a:off x="6096000" y="520554"/>
            <a:ext cx="5864937" cy="913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ED892-8A70-E340-00C2-7DE5790B1C42}"/>
              </a:ext>
            </a:extLst>
          </p:cNvPr>
          <p:cNvSpPr txBox="1"/>
          <p:nvPr/>
        </p:nvSpPr>
        <p:spPr>
          <a:xfrm>
            <a:off x="6213991" y="511199"/>
            <a:ext cx="5746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–Do multiple deliveries during jam traffic increase delays? /Analyze whether multiple deliveries during jam traffic increase delivery delays.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1A7BDAA-AD3C-3F08-B780-D294150A4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719947"/>
              </p:ext>
            </p:extLst>
          </p:nvPr>
        </p:nvGraphicFramePr>
        <p:xfrm>
          <a:off x="7150508" y="1983379"/>
          <a:ext cx="4104968" cy="1116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480632931"/>
                    </a:ext>
                  </a:extLst>
                </a:gridCol>
                <a:gridCol w="2052484">
                  <a:extLst>
                    <a:ext uri="{9D8B030D-6E8A-4147-A177-3AD203B41FA5}">
                      <a16:colId xmlns:a16="http://schemas.microsoft.com/office/drawing/2014/main" val="816038086"/>
                    </a:ext>
                  </a:extLst>
                </a:gridCol>
              </a:tblGrid>
              <a:tr h="3850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Multiple deliveries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 Delivery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21984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41.1429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641335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40.6667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74392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8A7334-01A8-20F9-9790-CF24D45D9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11604"/>
              </p:ext>
            </p:extLst>
          </p:nvPr>
        </p:nvGraphicFramePr>
        <p:xfrm>
          <a:off x="521110" y="1505665"/>
          <a:ext cx="4925960" cy="237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987">
                  <a:extLst>
                    <a:ext uri="{9D8B030D-6E8A-4147-A177-3AD203B41FA5}">
                      <a16:colId xmlns:a16="http://schemas.microsoft.com/office/drawing/2014/main" val="534818209"/>
                    </a:ext>
                  </a:extLst>
                </a:gridCol>
                <a:gridCol w="1675090">
                  <a:extLst>
                    <a:ext uri="{9D8B030D-6E8A-4147-A177-3AD203B41FA5}">
                      <a16:colId xmlns:a16="http://schemas.microsoft.com/office/drawing/2014/main" val="2802405695"/>
                    </a:ext>
                  </a:extLst>
                </a:gridCol>
                <a:gridCol w="1608883">
                  <a:extLst>
                    <a:ext uri="{9D8B030D-6E8A-4147-A177-3AD203B41FA5}">
                      <a16:colId xmlns:a16="http://schemas.microsoft.com/office/drawing/2014/main" val="3055232056"/>
                    </a:ext>
                  </a:extLst>
                </a:gridCol>
              </a:tblGrid>
              <a:tr h="54136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Weather condition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Road Traffic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AVG Delivery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74495"/>
                  </a:ext>
                </a:extLst>
              </a:tr>
              <a:tr h="3093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Sandstorm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jam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47.0000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732164"/>
                  </a:ext>
                </a:extLst>
              </a:tr>
              <a:tr h="3093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Stormy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jam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47.0000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608047"/>
                  </a:ext>
                </a:extLst>
              </a:tr>
              <a:tr h="3093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Stormy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45.3333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992608"/>
                  </a:ext>
                </a:extLst>
              </a:tr>
              <a:tr h="3093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Windy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43.5000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385864"/>
                  </a:ext>
                </a:extLst>
              </a:tr>
              <a:tr h="4545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Sandstorms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43.0000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68750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92957-0FD5-2BA9-F9BF-798F845D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15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7380EB-9CDA-4044-63AC-28F3BF9EB4ED}"/>
              </a:ext>
            </a:extLst>
          </p:cNvPr>
          <p:cNvSpPr txBox="1"/>
          <p:nvPr/>
        </p:nvSpPr>
        <p:spPr>
          <a:xfrm>
            <a:off x="11690556" y="33790"/>
            <a:ext cx="549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43471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855C0-23CF-7D2F-AC2D-2C33B207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646819-276B-71CF-6B0B-99CBB6AA3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332197-6274-2838-4B3B-01F0C2CDCA95}"/>
              </a:ext>
            </a:extLst>
          </p:cNvPr>
          <p:cNvSpPr/>
          <p:nvPr/>
        </p:nvSpPr>
        <p:spPr>
          <a:xfrm>
            <a:off x="142567" y="646781"/>
            <a:ext cx="5461819" cy="68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4E072-7EBA-2CE4-9469-F7670C332A22}"/>
              </a:ext>
            </a:extLst>
          </p:cNvPr>
          <p:cNvSpPr/>
          <p:nvPr/>
        </p:nvSpPr>
        <p:spPr>
          <a:xfrm>
            <a:off x="6277894" y="646781"/>
            <a:ext cx="577153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A90158-36FA-2716-F6E1-615EF0582546}"/>
              </a:ext>
            </a:extLst>
          </p:cNvPr>
          <p:cNvSpPr txBox="1"/>
          <p:nvPr/>
        </p:nvSpPr>
        <p:spPr>
          <a:xfrm>
            <a:off x="142565" y="690406"/>
            <a:ext cx="546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Problem -1) Which City Has More Restaurants?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59C2CB-9E94-4587-7FD1-5E9D7EFCEBBC}"/>
              </a:ext>
            </a:extLst>
          </p:cNvPr>
          <p:cNvSpPr txBox="1"/>
          <p:nvPr/>
        </p:nvSpPr>
        <p:spPr>
          <a:xfrm>
            <a:off x="6356554" y="646781"/>
            <a:ext cx="557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Which City Has More Delivery Locations? / Analyze customer delivery distribution across different city types.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BB09AD-1310-58EE-7822-0ADEEF53E7DA}"/>
              </a:ext>
            </a:extLst>
          </p:cNvPr>
          <p:cNvSpPr/>
          <p:nvPr/>
        </p:nvSpPr>
        <p:spPr>
          <a:xfrm>
            <a:off x="245807" y="3666125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28A0AA-498C-8FA5-ED0C-661ADA2CCD41}"/>
              </a:ext>
            </a:extLst>
          </p:cNvPr>
          <p:cNvSpPr txBox="1"/>
          <p:nvPr/>
        </p:nvSpPr>
        <p:spPr>
          <a:xfrm>
            <a:off x="442450" y="3737269"/>
            <a:ext cx="52307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FINDING</a:t>
            </a:r>
            <a:r>
              <a:rPr lang="en-US" sz="1600" dirty="0"/>
              <a:t>- Metropolitan cities have significantly more restaurants compared to Urban cities.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- The company’s operations and restaurant partnerships are highly concentrated in metropolitan areas, indicating higher customer demand and business activity in these regions.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BUSINESS SOLUTION</a:t>
            </a:r>
            <a:r>
              <a:rPr lang="en-US" sz="1600" dirty="0"/>
              <a:t>-Expand restaurant partnerships in Urban cities to increase market reach and balance delivery operations across different locations.</a:t>
            </a:r>
            <a:endParaRPr lang="en-IN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ADFEC11-908C-1A41-B94A-E196AD82B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684596"/>
              </p:ext>
            </p:extLst>
          </p:nvPr>
        </p:nvGraphicFramePr>
        <p:xfrm>
          <a:off x="7497094" y="1601693"/>
          <a:ext cx="358877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273">
                  <a:extLst>
                    <a:ext uri="{9D8B030D-6E8A-4147-A177-3AD203B41FA5}">
                      <a16:colId xmlns:a16="http://schemas.microsoft.com/office/drawing/2014/main" val="3829036595"/>
                    </a:ext>
                  </a:extLst>
                </a:gridCol>
                <a:gridCol w="1838505">
                  <a:extLst>
                    <a:ext uri="{9D8B030D-6E8A-4147-A177-3AD203B41FA5}">
                      <a16:colId xmlns:a16="http://schemas.microsoft.com/office/drawing/2014/main" val="3233026303"/>
                    </a:ext>
                  </a:extLst>
                </a:gridCol>
              </a:tblGrid>
              <a:tr h="27915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Max Location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02331"/>
                  </a:ext>
                </a:extLst>
              </a:tr>
              <a:tr h="27915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Metropolitan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780854"/>
                  </a:ext>
                </a:extLst>
              </a:tr>
              <a:tr h="27915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1159"/>
                  </a:ext>
                </a:extLst>
              </a:tr>
              <a:tr h="27915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Semi – 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8627"/>
                  </a:ext>
                </a:extLst>
              </a:tr>
            </a:tbl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48C8A73-AAB7-C334-C8CF-AB354F3EB884}"/>
              </a:ext>
            </a:extLst>
          </p:cNvPr>
          <p:cNvSpPr/>
          <p:nvPr/>
        </p:nvSpPr>
        <p:spPr>
          <a:xfrm>
            <a:off x="6356554" y="3593801"/>
            <a:ext cx="5692877" cy="3118132"/>
          </a:xfrm>
          <a:prstGeom prst="roundRect">
            <a:avLst>
              <a:gd name="adj" fmla="val 204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089437-39E4-5789-1DBA-579A40A67700}"/>
              </a:ext>
            </a:extLst>
          </p:cNvPr>
          <p:cNvSpPr txBox="1"/>
          <p:nvPr/>
        </p:nvSpPr>
        <p:spPr>
          <a:xfrm>
            <a:off x="6604820" y="3629373"/>
            <a:ext cx="55158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FINDING</a:t>
            </a:r>
            <a:r>
              <a:rPr lang="en-US" sz="1600" dirty="0"/>
              <a:t>-Metropolitan cities have the highest number of delivery locations, followed by Urban cities, while Semi-Urban cities have the lowest delivery coverage.</a:t>
            </a:r>
          </a:p>
          <a:p>
            <a:endParaRPr lang="en-US" sz="1600" dirty="0"/>
          </a:p>
          <a:p>
            <a:r>
              <a:rPr lang="en-US" sz="1600" b="1" dirty="0"/>
              <a:t>BUSINESS INSIGHT</a:t>
            </a:r>
            <a:r>
              <a:rPr lang="en-US" sz="1600" dirty="0"/>
              <a:t> -Customer demand and delivery operations are highly concentrated in metropolitan areas, whereas Semi-Urban regions show lower operational reach and market penetration</a:t>
            </a:r>
          </a:p>
          <a:p>
            <a:endParaRPr lang="en-US" sz="1600" dirty="0"/>
          </a:p>
          <a:p>
            <a:r>
              <a:rPr lang="en-US" sz="1600" b="1" dirty="0"/>
              <a:t>BUSINESS SOLUTION </a:t>
            </a:r>
            <a:r>
              <a:rPr lang="en-US" sz="1600" dirty="0"/>
              <a:t>- Increase delivery expansion and promotional activities in Semi-Urban and Urban areas to improve customer reach and business growth.</a:t>
            </a:r>
            <a:endParaRPr lang="en-IN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1BF01D-3435-ABC5-49F5-A5A40512D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075217"/>
              </p:ext>
            </p:extLst>
          </p:nvPr>
        </p:nvGraphicFramePr>
        <p:xfrm>
          <a:off x="820990" y="1856689"/>
          <a:ext cx="4104968" cy="1116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954161152"/>
                    </a:ext>
                  </a:extLst>
                </a:gridCol>
                <a:gridCol w="2052484">
                  <a:extLst>
                    <a:ext uri="{9D8B030D-6E8A-4147-A177-3AD203B41FA5}">
                      <a16:colId xmlns:a16="http://schemas.microsoft.com/office/drawing/2014/main" val="2216905001"/>
                    </a:ext>
                  </a:extLst>
                </a:gridCol>
              </a:tblGrid>
              <a:tr h="3850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City 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Restaurants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496041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Metropolitan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43289"/>
                  </a:ext>
                </a:extLst>
              </a:tr>
              <a:tr h="3293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4500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9357E1-62E5-DE2C-1E2E-DF5FCA676D34}"/>
              </a:ext>
            </a:extLst>
          </p:cNvPr>
          <p:cNvSpPr txBox="1"/>
          <p:nvPr/>
        </p:nvSpPr>
        <p:spPr>
          <a:xfrm>
            <a:off x="2873474" y="113160"/>
            <a:ext cx="7327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highlight>
                  <a:srgbClr val="808080"/>
                </a:highlight>
              </a:rPr>
              <a:t>M)</a:t>
            </a:r>
            <a:r>
              <a:rPr lang="en-US" sz="2400" b="1" dirty="0">
                <a:solidFill>
                  <a:schemeClr val="bg1"/>
                </a:solidFill>
                <a:highlight>
                  <a:srgbClr val="808080"/>
                </a:highlight>
              </a:rPr>
              <a:t> LOCATION AND DELIVERY COVERAGE ANALYSIS</a:t>
            </a:r>
            <a:endParaRPr lang="en-IN" sz="2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42B06-CF93-A1C0-5DC0-F284AFFC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9882C-8558-EED7-B08D-8C40AB617897}"/>
              </a:ext>
            </a:extLst>
          </p:cNvPr>
          <p:cNvSpPr txBox="1"/>
          <p:nvPr/>
        </p:nvSpPr>
        <p:spPr>
          <a:xfrm>
            <a:off x="11759381" y="56805"/>
            <a:ext cx="43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85432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624C-9609-8880-4DB7-8BBE7EC6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90123-22FC-07EE-F72C-D9A1889B5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322C6-5709-1BC7-FBD4-22735D18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D4B66-F096-4230-AD09-E03834B28BD3}" type="slidenum">
              <a:rPr lang="en-IN" smtClean="0"/>
              <a:t>17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B1A58-E3DC-3FA3-F943-89656F70A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CDCE08-68F6-36A5-4EA2-2187AE46AE07}"/>
              </a:ext>
            </a:extLst>
          </p:cNvPr>
          <p:cNvSpPr txBox="1"/>
          <p:nvPr/>
        </p:nvSpPr>
        <p:spPr>
          <a:xfrm>
            <a:off x="196646" y="50801"/>
            <a:ext cx="2546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981AB-2931-21DC-D5ED-AE78C130E4E4}"/>
              </a:ext>
            </a:extLst>
          </p:cNvPr>
          <p:cNvSpPr txBox="1"/>
          <p:nvPr/>
        </p:nvSpPr>
        <p:spPr>
          <a:xfrm>
            <a:off x="88492" y="938074"/>
            <a:ext cx="1172988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SQL-based analysis identified the major factors affecting food delivery performance.</a:t>
            </a:r>
          </a:p>
          <a:p>
            <a:endParaRPr lang="en-US" sz="2400" dirty="0"/>
          </a:p>
          <a:p>
            <a:r>
              <a:rPr lang="en-US" sz="2400" dirty="0"/>
              <a:t>Traffic congestion, bad weather, peak evening hours, and multiple deliveries caused the highest delays.</a:t>
            </a:r>
          </a:p>
          <a:p>
            <a:endParaRPr lang="en-US" sz="2400" dirty="0"/>
          </a:p>
          <a:p>
            <a:r>
              <a:rPr lang="en-US" sz="2400" dirty="0"/>
              <a:t> Metropolitan cities showed the highest operational pressure and delivery time.</a:t>
            </a:r>
          </a:p>
          <a:p>
            <a:endParaRPr lang="en-US" sz="2400" dirty="0"/>
          </a:p>
          <a:p>
            <a:r>
              <a:rPr lang="en-US" sz="2400" dirty="0"/>
              <a:t>Scooters performed more efficiently, while top delivery agents achieved faster delivery performance. </a:t>
            </a:r>
          </a:p>
          <a:p>
            <a:endParaRPr lang="en-US" sz="2400" dirty="0"/>
          </a:p>
          <a:p>
            <a:r>
              <a:rPr lang="en-US" sz="2400" dirty="0"/>
              <a:t>Meal and snack orders showed the highest customer demand, whereas buffet orders required more delivery time.</a:t>
            </a:r>
          </a:p>
          <a:p>
            <a:endParaRPr lang="en-US" sz="2400" dirty="0"/>
          </a:p>
          <a:p>
            <a:r>
              <a:rPr lang="en-US" sz="2400" dirty="0"/>
              <a:t>Overall, the project demonstrated how SQL analytics can help improve route optimization, delivery planning, operational efficiency, and customer satisfaction through data-driven decision-making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3781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2372</Words>
  <Application>Microsoft Office PowerPoint</Application>
  <PresentationFormat>Widescreen</PresentationFormat>
  <Paragraphs>500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Food Delivery Operations &amp; Performance Analysis Using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vibha tele</dc:creator>
  <cp:lastModifiedBy>vibha tele</cp:lastModifiedBy>
  <cp:revision>15</cp:revision>
  <dcterms:created xsi:type="dcterms:W3CDTF">2026-05-27T10:04:22Z</dcterms:created>
  <dcterms:modified xsi:type="dcterms:W3CDTF">2026-05-30T02:06:11Z</dcterms:modified>
</cp:coreProperties>
</file>